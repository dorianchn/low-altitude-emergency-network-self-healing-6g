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1999" cy="6858000" type="screen16x9"/>
  <p:notesSz cx="6858000" cy="9144000"/>
  <p:defaultTextStyle>
    <a:defPPr>
      <a:defRPr lang="zh-CN"/>
    </a:defPPr>
  </p:defaultTextStyle>
</p:presentation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8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9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0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2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3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rm accent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96841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40080" y="347472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900" b="1">
                <a:solidFill>
                  <a:srgbClr val="E96841"/>
                </a:solidFill>
                <a:latin typeface="Arial"/>
                <a:ea typeface="Microsoft YaHei"/>
              </a:rPr>
              <a:t xml:space="preserve">6G / RESCUE   ·   场景设计研究</a:t>
            </a:r>
            <a:endParaRPr lang="zh-CN" sz="900"/>
          </a:p>
        </p:txBody>
      </p:sp>
      <p:sp>
        <p:nvSpPr>
          <p:cNvPr id="4" name="slide title"/>
          <p:cNvSpPr txBox="1"/>
          <p:nvPr/>
        </p:nvSpPr>
        <p:spPr>
          <a:xfrm>
            <a:off x="621792" y="1417320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6000" b="1">
                <a:solidFill>
                  <a:srgbClr val="F5F0E9"/>
                </a:solidFill>
                <a:latin typeface="Arial"/>
                <a:ea typeface="Microsoft YaHei"/>
              </a:rPr>
              <a:t xml:space="preserve">6G / RESCUE</a:t>
            </a:r>
            <a:endParaRPr lang="zh-CN" sz="6000"/>
          </a:p>
        </p:txBody>
      </p:sp>
      <p:sp>
        <p:nvSpPr>
          <p:cNvPr id="5" name="subtitle"/>
          <p:cNvSpPr txBox="1"/>
          <p:nvPr/>
        </p:nvSpPr>
        <p:spPr>
          <a:xfrm>
            <a:off x="640080" y="2130552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600" b="0">
                <a:solidFill>
                  <a:srgbClr val="B9AAA0"/>
                </a:solidFill>
                <a:latin typeface="Arial"/>
                <a:ea typeface="Microsoft YaHei"/>
              </a:rPr>
              <a:t xml:space="preserve">面向6G的低空应急网络智能自愈平台</a:t>
            </a:r>
            <a:endParaRPr lang="zh-CN" sz="1600"/>
          </a:p>
        </p:txBody>
      </p:sp>
      <p:sp>
        <p:nvSpPr>
          <p:cNvPr id="6" name="bullet 1"/>
          <p:cNvSpPr txBox="1"/>
          <p:nvPr/>
        </p:nvSpPr>
        <p:spPr>
          <a:xfrm>
            <a:off x="804672" y="2788920"/>
            <a:ext cx="1033272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500" b="0">
                <a:solidFill>
                  <a:srgbClr val="F5F0E9"/>
                </a:solidFill>
                <a:latin typeface="Arial"/>
                <a:ea typeface="Microsoft YaHei"/>
              </a:rPr>
              <a:t xml:space="preserve">•  灾后网络恢复的可复现仿真与策略边界研究</a:t>
            </a:r>
            <a:endParaRPr lang="zh-CN" sz="1500"/>
          </a:p>
        </p:txBody>
      </p:sp>
      <p:sp>
        <p:nvSpPr>
          <p:cNvPr id="7" name="bullet 2"/>
          <p:cNvSpPr txBox="1"/>
          <p:nvPr/>
        </p:nvSpPr>
        <p:spPr>
          <a:xfrm>
            <a:off x="804672" y="3355848"/>
            <a:ext cx="1033272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500" b="0">
                <a:solidFill>
                  <a:srgbClr val="F5F0E9"/>
                </a:solidFill>
                <a:latin typeface="Arial"/>
                <a:ea typeface="Microsoft YaHei"/>
              </a:rPr>
              <a:t xml:space="preserve">•  AI+6G 青年创新创业专项赛 · 场景设计 · 学生组</a:t>
            </a:r>
            <a:endParaRPr lang="zh-CN" sz="1500"/>
          </a:p>
        </p:txBody>
      </p:sp>
      <p:sp>
        <p:nvSpPr>
          <p:cNvPr id="8" name="bullet 3"/>
          <p:cNvSpPr txBox="1"/>
          <p:nvPr/>
        </p:nvSpPr>
        <p:spPr>
          <a:xfrm>
            <a:off x="804672" y="3922776"/>
            <a:ext cx="1033272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500" b="0">
                <a:solidFill>
                  <a:srgbClr val="F5F0E9"/>
                </a:solidFill>
                <a:latin typeface="Arial"/>
                <a:ea typeface="Microsoft YaHei"/>
              </a:rPr>
              <a:t xml:space="preserve">•  队伍 / 学校 / 成员：PENDING_MANUAL_CONFIRMATION</a:t>
            </a:r>
            <a:endParaRPr lang="zh-CN" sz="1500"/>
          </a:p>
        </p:txBody>
      </p:sp>
      <p:sp>
        <p:nvSpPr>
          <p:cNvPr id="9" name="footer rule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57443B"/>
          </a:solidFill>
          <a:ln>
            <a:noFill/>
          </a:ln>
        </p:spPr>
      </p:sp>
      <p:sp>
        <p:nvSpPr>
          <p:cNvPr id="10" name="footer disclaimer"/>
          <p:cNvSpPr txBox="1"/>
          <p:nvPr/>
        </p:nvSpPr>
        <p:spPr>
          <a:xfrm>
            <a:off x="658368" y="6547104"/>
            <a:ext cx="8412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720" b="0">
                <a:solidFill>
                  <a:srgbClr val="B9AAA0"/>
                </a:solidFill>
                <a:latin typeface="Arial"/>
                <a:ea typeface="Microsoft YaHei"/>
              </a:rPr>
              <a:t xml:space="preserve">仿真研究数据；非真实无线测量</a:t>
            </a:r>
            <a:endParaRPr lang="zh-CN" sz="720"/>
          </a:p>
        </p:txBody>
      </p:sp>
      <p:sp>
        <p:nvSpPr>
          <p:cNvPr id="11" name="page number"/>
          <p:cNvSpPr txBox="1"/>
          <p:nvPr/>
        </p:nvSpPr>
        <p:spPr>
          <a:xfrm>
            <a:off x="10607040" y="653796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 marL="0" indent="0"/>
            <a:r>
              <a:rPr lang="zh-CN" sz="800" b="1">
                <a:solidFill>
                  <a:srgbClr val="E96841"/>
                </a:solidFill>
                <a:latin typeface="Arial"/>
                <a:ea typeface="Microsoft YaHei"/>
              </a:rPr>
              <a:t xml:space="preserve">01 / 16</a:t>
            </a:r>
            <a:endParaRPr lang="zh-CN"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rm accent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96841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40080" y="347472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900" b="1">
                <a:solidFill>
                  <a:srgbClr val="E96841"/>
                </a:solidFill>
                <a:latin typeface="Arial"/>
                <a:ea typeface="Microsoft YaHei"/>
              </a:rPr>
              <a:t xml:space="preserve">6G / RESCUE   ·   场景设计研究</a:t>
            </a:r>
            <a:endParaRPr lang="zh-CN" sz="900"/>
          </a:p>
        </p:txBody>
      </p:sp>
      <p:sp>
        <p:nvSpPr>
          <p:cNvPr id="4" name="slide title"/>
          <p:cNvSpPr txBox="1"/>
          <p:nvPr/>
        </p:nvSpPr>
        <p:spPr>
          <a:xfrm>
            <a:off x="621792" y="658368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3700" b="1">
                <a:solidFill>
                  <a:srgbClr val="F5F0E9"/>
                </a:solidFill>
                <a:latin typeface="Arial"/>
                <a:ea typeface="Microsoft YaHei"/>
              </a:rPr>
              <a:t xml:space="preserve">灾后通信的关键断点</a:t>
            </a:r>
            <a:endParaRPr lang="zh-CN" sz="3700"/>
          </a:p>
        </p:txBody>
      </p:sp>
      <p:sp>
        <p:nvSpPr>
          <p:cNvPr id="5" name="subtitle"/>
          <p:cNvSpPr txBox="1"/>
          <p:nvPr/>
        </p:nvSpPr>
        <p:spPr>
          <a:xfrm>
            <a:off x="640080" y="1371600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600" b="0">
                <a:solidFill>
                  <a:srgbClr val="B9AAA0"/>
                </a:solidFill>
                <a:latin typeface="Arial"/>
                <a:ea typeface="Microsoft YaHei"/>
              </a:rPr>
              <a:t xml:space="preserve">应急业务不止需要覆盖</a:t>
            </a:r>
            <a:endParaRPr lang="zh-CN" sz="1600"/>
          </a:p>
        </p:txBody>
      </p:sp>
      <p:sp>
        <p:nvSpPr>
          <p:cNvPr id="6" name="fact card"/>
          <p:cNvSpPr/>
          <p:nvPr/>
        </p:nvSpPr>
        <p:spPr>
          <a:xfrm>
            <a:off x="749808" y="1920240"/>
            <a:ext cx="4937760" cy="713232"/>
          </a:xfrm>
          <a:prstGeom prst="rect">
            <a:avLst/>
          </a:prstGeom>
          <a:solidFill>
            <a:srgbClr val="1E1A18"/>
          </a:solidFill>
          <a:ln>
            <a:noFill/>
          </a:ln>
        </p:spPr>
      </p:sp>
      <p:sp>
        <p:nvSpPr>
          <p:cNvPr id="7" name="fact text"/>
          <p:cNvSpPr txBox="1"/>
          <p:nvPr/>
        </p:nvSpPr>
        <p:spPr>
          <a:xfrm>
            <a:off x="914400" y="2048256"/>
            <a:ext cx="4617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450" b="0">
                <a:solidFill>
                  <a:srgbClr val="F5F0E9"/>
                </a:solidFill>
                <a:latin typeface="Arial"/>
                <a:ea typeface="Microsoft YaHei"/>
              </a:rPr>
              <a:t xml:space="preserve">基站停机、回传中断与救援需求激增可能同时发生。</a:t>
            </a:r>
            <a:endParaRPr lang="zh-CN" sz="1450"/>
          </a:p>
        </p:txBody>
      </p:sp>
      <p:sp>
        <p:nvSpPr>
          <p:cNvPr id="8" name="fact card"/>
          <p:cNvSpPr/>
          <p:nvPr/>
        </p:nvSpPr>
        <p:spPr>
          <a:xfrm>
            <a:off x="6144768" y="1920240"/>
            <a:ext cx="4937760" cy="713232"/>
          </a:xfrm>
          <a:prstGeom prst="rect">
            <a:avLst/>
          </a:prstGeom>
          <a:solidFill>
            <a:srgbClr val="1E1A18"/>
          </a:solidFill>
          <a:ln>
            <a:noFill/>
          </a:ln>
        </p:spPr>
      </p:sp>
      <p:sp>
        <p:nvSpPr>
          <p:cNvPr id="9" name="fact text"/>
          <p:cNvSpPr txBox="1"/>
          <p:nvPr/>
        </p:nvSpPr>
        <p:spPr>
          <a:xfrm>
            <a:off x="6309360" y="2048256"/>
            <a:ext cx="4617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450" b="0">
                <a:solidFill>
                  <a:srgbClr val="F5F0E9"/>
                </a:solidFill>
                <a:latin typeface="Arial"/>
                <a:ea typeface="Microsoft YaHei"/>
              </a:rPr>
              <a:t xml:space="preserve">无人机接入链路可达，不代表端到端服务可用。</a:t>
            </a:r>
            <a:endParaRPr lang="zh-CN" sz="1450"/>
          </a:p>
        </p:txBody>
      </p:sp>
      <p:sp>
        <p:nvSpPr>
          <p:cNvPr id="10" name="fact card"/>
          <p:cNvSpPr/>
          <p:nvPr/>
        </p:nvSpPr>
        <p:spPr>
          <a:xfrm>
            <a:off x="749808" y="2944368"/>
            <a:ext cx="4937760" cy="713232"/>
          </a:xfrm>
          <a:prstGeom prst="rect">
            <a:avLst/>
          </a:prstGeom>
          <a:solidFill>
            <a:srgbClr val="1E1A18"/>
          </a:solidFill>
          <a:ln>
            <a:noFill/>
          </a:ln>
        </p:spPr>
      </p:sp>
      <p:sp>
        <p:nvSpPr>
          <p:cNvPr id="11" name="fact text"/>
          <p:cNvSpPr txBox="1"/>
          <p:nvPr/>
        </p:nvSpPr>
        <p:spPr>
          <a:xfrm>
            <a:off x="914400" y="3072384"/>
            <a:ext cx="4617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450" b="0">
                <a:solidFill>
                  <a:srgbClr val="F5F0E9"/>
                </a:solidFill>
                <a:latin typeface="Arial"/>
                <a:ea typeface="Microsoft YaHei"/>
              </a:rPr>
              <a:t xml:space="preserve">决策必须同时检查健康回传、共享容量、时延与续航。</a:t>
            </a:r>
            <a:endParaRPr lang="zh-CN" sz="1450"/>
          </a:p>
        </p:txBody>
      </p:sp>
      <p:sp>
        <p:nvSpPr>
          <p:cNvPr id="12" name="footer rule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57443B"/>
          </a:solidFill>
          <a:ln>
            <a:noFill/>
          </a:ln>
        </p:spPr>
      </p:sp>
      <p:sp>
        <p:nvSpPr>
          <p:cNvPr id="13" name="footer disclaimer"/>
          <p:cNvSpPr txBox="1"/>
          <p:nvPr/>
        </p:nvSpPr>
        <p:spPr>
          <a:xfrm>
            <a:off x="658368" y="6547104"/>
            <a:ext cx="8412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720" b="0">
                <a:solidFill>
                  <a:srgbClr val="B9AAA0"/>
                </a:solidFill>
                <a:latin typeface="Arial"/>
                <a:ea typeface="Microsoft YaHei"/>
              </a:rPr>
              <a:t xml:space="preserve">仿真研究数据；非真实无线测量</a:t>
            </a:r>
            <a:endParaRPr lang="zh-CN" sz="720"/>
          </a:p>
        </p:txBody>
      </p:sp>
      <p:sp>
        <p:nvSpPr>
          <p:cNvPr id="14" name="page number"/>
          <p:cNvSpPr txBox="1"/>
          <p:nvPr/>
        </p:nvSpPr>
        <p:spPr>
          <a:xfrm>
            <a:off x="10607040" y="653796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 marL="0" indent="0"/>
            <a:r>
              <a:rPr lang="zh-CN" sz="800" b="1">
                <a:solidFill>
                  <a:srgbClr val="E96841"/>
                </a:solidFill>
                <a:latin typeface="Arial"/>
                <a:ea typeface="Microsoft YaHei"/>
              </a:rPr>
              <a:t xml:space="preserve">02 / 16</a:t>
            </a:r>
            <a:endParaRPr lang="zh-CN"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rm accent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96841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40080" y="347472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900" b="1">
                <a:solidFill>
                  <a:srgbClr val="E96841"/>
                </a:solidFill>
                <a:latin typeface="Arial"/>
                <a:ea typeface="Microsoft YaHei"/>
              </a:rPr>
              <a:t xml:space="preserve">6G / RESCUE   ·   场景设计研究</a:t>
            </a:r>
            <a:endParaRPr lang="zh-CN" sz="900"/>
          </a:p>
        </p:txBody>
      </p:sp>
      <p:sp>
        <p:nvSpPr>
          <p:cNvPr id="4" name="slide title"/>
          <p:cNvSpPr txBox="1"/>
          <p:nvPr/>
        </p:nvSpPr>
        <p:spPr>
          <a:xfrm>
            <a:off x="621792" y="658368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3700" b="1">
                <a:solidFill>
                  <a:srgbClr val="F5F0E9"/>
                </a:solidFill>
                <a:latin typeface="Arial"/>
                <a:ea typeface="Microsoft YaHei"/>
              </a:rPr>
              <a:t xml:space="preserve">研究问题</a:t>
            </a:r>
            <a:endParaRPr lang="zh-CN" sz="3700"/>
          </a:p>
        </p:txBody>
      </p:sp>
      <p:sp>
        <p:nvSpPr>
          <p:cNvPr id="5" name="subtitle"/>
          <p:cNvSpPr txBox="1"/>
          <p:nvPr/>
        </p:nvSpPr>
        <p:spPr>
          <a:xfrm>
            <a:off x="640080" y="1371600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600" b="0">
                <a:solidFill>
                  <a:srgbClr val="B9AAA0"/>
                </a:solidFill>
                <a:latin typeface="Arial"/>
                <a:ea typeface="Microsoft YaHei"/>
              </a:rPr>
              <a:t xml:space="preserve">用可验证的模型回答三个问题</a:t>
            </a:r>
            <a:endParaRPr lang="zh-CN" sz="1600"/>
          </a:p>
        </p:txBody>
      </p:sp>
      <p:sp>
        <p:nvSpPr>
          <p:cNvPr id="6" name="fact card"/>
          <p:cNvSpPr/>
          <p:nvPr/>
        </p:nvSpPr>
        <p:spPr>
          <a:xfrm>
            <a:off x="749808" y="1920240"/>
            <a:ext cx="4937760" cy="713232"/>
          </a:xfrm>
          <a:prstGeom prst="rect">
            <a:avLst/>
          </a:prstGeom>
          <a:solidFill>
            <a:srgbClr val="1E1A18"/>
          </a:solidFill>
          <a:ln>
            <a:noFill/>
          </a:ln>
        </p:spPr>
      </p:sp>
      <p:sp>
        <p:nvSpPr>
          <p:cNvPr id="7" name="fact text"/>
          <p:cNvSpPr txBox="1"/>
          <p:nvPr/>
        </p:nvSpPr>
        <p:spPr>
          <a:xfrm>
            <a:off x="914400" y="2048256"/>
            <a:ext cx="4617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450" b="0">
                <a:solidFill>
                  <a:srgbClr val="F5F0E9"/>
                </a:solidFill>
                <a:latin typeface="Arial"/>
                <a:ea typeface="Microsoft YaHei"/>
              </a:rPr>
              <a:t xml:space="preserve">何时增加低空中继能提高救援服务连续性？</a:t>
            </a:r>
            <a:endParaRPr lang="zh-CN" sz="1450"/>
          </a:p>
        </p:txBody>
      </p:sp>
      <p:sp>
        <p:nvSpPr>
          <p:cNvPr id="8" name="fact card"/>
          <p:cNvSpPr/>
          <p:nvPr/>
        </p:nvSpPr>
        <p:spPr>
          <a:xfrm>
            <a:off x="6144768" y="1920240"/>
            <a:ext cx="4937760" cy="713232"/>
          </a:xfrm>
          <a:prstGeom prst="rect">
            <a:avLst/>
          </a:prstGeom>
          <a:solidFill>
            <a:srgbClr val="1E1A18"/>
          </a:solidFill>
          <a:ln>
            <a:noFill/>
          </a:ln>
        </p:spPr>
      </p:sp>
      <p:sp>
        <p:nvSpPr>
          <p:cNvPr id="9" name="fact text"/>
          <p:cNvSpPr txBox="1"/>
          <p:nvPr/>
        </p:nvSpPr>
        <p:spPr>
          <a:xfrm>
            <a:off x="6309360" y="2048256"/>
            <a:ext cx="4617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450" b="0">
                <a:solidFill>
                  <a:srgbClr val="F5F0E9"/>
                </a:solidFill>
                <a:latin typeface="Arial"/>
                <a:ea typeface="Microsoft YaHei"/>
              </a:rPr>
              <a:t xml:space="preserve">静态规则、滚动搜索、事件触发和机队协调各自在哪些场景有效？</a:t>
            </a:r>
            <a:endParaRPr lang="zh-CN" sz="1450"/>
          </a:p>
        </p:txBody>
      </p:sp>
      <p:sp>
        <p:nvSpPr>
          <p:cNvPr id="10" name="fact card"/>
          <p:cNvSpPr/>
          <p:nvPr/>
        </p:nvSpPr>
        <p:spPr>
          <a:xfrm>
            <a:off x="749808" y="2944368"/>
            <a:ext cx="4937760" cy="713232"/>
          </a:xfrm>
          <a:prstGeom prst="rect">
            <a:avLst/>
          </a:prstGeom>
          <a:solidFill>
            <a:srgbClr val="1E1A18"/>
          </a:solidFill>
          <a:ln>
            <a:noFill/>
          </a:ln>
        </p:spPr>
      </p:sp>
      <p:sp>
        <p:nvSpPr>
          <p:cNvPr id="11" name="fact text"/>
          <p:cNvSpPr txBox="1"/>
          <p:nvPr/>
        </p:nvSpPr>
        <p:spPr>
          <a:xfrm>
            <a:off x="914400" y="3072384"/>
            <a:ext cx="4617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450" b="0">
                <a:solidFill>
                  <a:srgbClr val="F5F0E9"/>
                </a:solidFill>
                <a:latin typeface="Arial"/>
                <a:ea typeface="Microsoft YaHei"/>
              </a:rPr>
              <a:t xml:space="preserve">收益是否抵得上额外能耗与算法计算成本？</a:t>
            </a:r>
            <a:endParaRPr lang="zh-CN" sz="1450"/>
          </a:p>
        </p:txBody>
      </p:sp>
      <p:sp>
        <p:nvSpPr>
          <p:cNvPr id="12" name="footer rule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57443B"/>
          </a:solidFill>
          <a:ln>
            <a:noFill/>
          </a:ln>
        </p:spPr>
      </p:sp>
      <p:sp>
        <p:nvSpPr>
          <p:cNvPr id="13" name="footer disclaimer"/>
          <p:cNvSpPr txBox="1"/>
          <p:nvPr/>
        </p:nvSpPr>
        <p:spPr>
          <a:xfrm>
            <a:off x="658368" y="6547104"/>
            <a:ext cx="8412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720" b="0">
                <a:solidFill>
                  <a:srgbClr val="B9AAA0"/>
                </a:solidFill>
                <a:latin typeface="Arial"/>
                <a:ea typeface="Microsoft YaHei"/>
              </a:rPr>
              <a:t xml:space="preserve">仿真研究数据；非真实无线测量</a:t>
            </a:r>
            <a:endParaRPr lang="zh-CN" sz="720"/>
          </a:p>
        </p:txBody>
      </p:sp>
      <p:sp>
        <p:nvSpPr>
          <p:cNvPr id="14" name="page number"/>
          <p:cNvSpPr txBox="1"/>
          <p:nvPr/>
        </p:nvSpPr>
        <p:spPr>
          <a:xfrm>
            <a:off x="10607040" y="653796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 marL="0" indent="0"/>
            <a:r>
              <a:rPr lang="zh-CN" sz="800" b="1">
                <a:solidFill>
                  <a:srgbClr val="E96841"/>
                </a:solidFill>
                <a:latin typeface="Arial"/>
                <a:ea typeface="Microsoft YaHei"/>
              </a:rPr>
              <a:t xml:space="preserve">03 / 16</a:t>
            </a:r>
            <a:endParaRPr lang="zh-CN"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rm accent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96841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40080" y="347472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900" b="1">
                <a:solidFill>
                  <a:srgbClr val="E96841"/>
                </a:solidFill>
                <a:latin typeface="Arial"/>
                <a:ea typeface="Microsoft YaHei"/>
              </a:rPr>
              <a:t xml:space="preserve">6G / RESCUE   ·   场景设计研究</a:t>
            </a:r>
            <a:endParaRPr lang="zh-CN" sz="900"/>
          </a:p>
        </p:txBody>
      </p:sp>
      <p:sp>
        <p:nvSpPr>
          <p:cNvPr id="4" name="slide title"/>
          <p:cNvSpPr txBox="1"/>
          <p:nvPr/>
        </p:nvSpPr>
        <p:spPr>
          <a:xfrm>
            <a:off x="621792" y="658368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3700" b="1">
                <a:solidFill>
                  <a:srgbClr val="F5F0E9"/>
                </a:solidFill>
                <a:latin typeface="Arial"/>
                <a:ea typeface="Microsoft YaHei"/>
              </a:rPr>
              <a:t xml:space="preserve">系统架构</a:t>
            </a:r>
            <a:endParaRPr lang="zh-CN" sz="3700"/>
          </a:p>
        </p:txBody>
      </p:sp>
      <p:sp>
        <p:nvSpPr>
          <p:cNvPr id="5" name="subtitle"/>
          <p:cNvSpPr txBox="1"/>
          <p:nvPr/>
        </p:nvSpPr>
        <p:spPr>
          <a:xfrm>
            <a:off x="640080" y="1371600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600" b="0">
                <a:solidFill>
                  <a:srgbClr val="B9AAA0"/>
                </a:solidFill>
                <a:latin typeface="Arial"/>
                <a:ea typeface="Microsoft YaHei"/>
              </a:rPr>
              <a:t xml:space="preserve">配置 → 状态 → 决策 → 安全执行 → 证据</a:t>
            </a:r>
            <a:endParaRPr lang="zh-CN" sz="1600"/>
          </a:p>
        </p:txBody>
      </p:sp>
      <p:sp>
        <p:nvSpPr>
          <p:cNvPr id="6" name="architecture layer"/>
          <p:cNvSpPr/>
          <p:nvPr/>
        </p:nvSpPr>
        <p:spPr>
          <a:xfrm>
            <a:off x="685800" y="1965960"/>
            <a:ext cx="3246120" cy="758952"/>
          </a:xfrm>
          <a:prstGeom prst="rect">
            <a:avLst/>
          </a:prstGeom>
          <a:solidFill>
            <a:srgbClr val="1E1A18"/>
          </a:solidFill>
          <a:ln>
            <a:noFill/>
          </a:ln>
        </p:spPr>
      </p:sp>
      <p:sp>
        <p:nvSpPr>
          <p:cNvPr id="7" name="architecture text"/>
          <p:cNvSpPr txBox="1"/>
          <p:nvPr/>
        </p:nvSpPr>
        <p:spPr>
          <a:xfrm>
            <a:off x="822960" y="2139696"/>
            <a:ext cx="29718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 marL="0" indent="0"/>
            <a:r>
              <a:rPr lang="zh-CN" sz="1600" b="1">
                <a:solidFill>
                  <a:srgbClr val="F5F0E9"/>
                </a:solidFill>
                <a:latin typeface="Arial"/>
                <a:ea typeface="Microsoft YaHei"/>
              </a:rPr>
              <a:t xml:space="preserve">场景 / 业务</a:t>
            </a:r>
            <a:endParaRPr lang="zh-CN" sz="1600"/>
          </a:p>
        </p:txBody>
      </p:sp>
      <p:sp>
        <p:nvSpPr>
          <p:cNvPr id="8" name="architecture layer"/>
          <p:cNvSpPr/>
          <p:nvPr/>
        </p:nvSpPr>
        <p:spPr>
          <a:xfrm>
            <a:off x="4343400" y="1965960"/>
            <a:ext cx="3246120" cy="758952"/>
          </a:xfrm>
          <a:prstGeom prst="rect">
            <a:avLst/>
          </a:prstGeom>
          <a:solidFill>
            <a:srgbClr val="1E1A18"/>
          </a:solidFill>
          <a:ln>
            <a:noFill/>
          </a:ln>
        </p:spPr>
      </p:sp>
      <p:sp>
        <p:nvSpPr>
          <p:cNvPr id="9" name="architecture text"/>
          <p:cNvSpPr txBox="1"/>
          <p:nvPr/>
        </p:nvSpPr>
        <p:spPr>
          <a:xfrm>
            <a:off x="4480560" y="2139696"/>
            <a:ext cx="29718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 marL="0" indent="0"/>
            <a:r>
              <a:rPr lang="zh-CN" sz="1600" b="1">
                <a:solidFill>
                  <a:srgbClr val="F5F0E9"/>
                </a:solidFill>
                <a:latin typeface="Arial"/>
                <a:ea typeface="Microsoft YaHei"/>
              </a:rPr>
              <a:t xml:space="preserve">网络 / 链路</a:t>
            </a:r>
            <a:endParaRPr lang="zh-CN" sz="1600"/>
          </a:p>
        </p:txBody>
      </p:sp>
      <p:sp>
        <p:nvSpPr>
          <p:cNvPr id="10" name="architecture layer"/>
          <p:cNvSpPr/>
          <p:nvPr/>
        </p:nvSpPr>
        <p:spPr>
          <a:xfrm>
            <a:off x="8001000" y="1965960"/>
            <a:ext cx="3246120" cy="758952"/>
          </a:xfrm>
          <a:prstGeom prst="rect">
            <a:avLst/>
          </a:prstGeom>
          <a:solidFill>
            <a:srgbClr val="1E1A18"/>
          </a:solidFill>
          <a:ln>
            <a:noFill/>
          </a:ln>
        </p:spPr>
      </p:sp>
      <p:sp>
        <p:nvSpPr>
          <p:cNvPr id="11" name="architecture text"/>
          <p:cNvSpPr txBox="1"/>
          <p:nvPr/>
        </p:nvSpPr>
        <p:spPr>
          <a:xfrm>
            <a:off x="8138160" y="2139696"/>
            <a:ext cx="29718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 marL="0" indent="0"/>
            <a:r>
              <a:rPr lang="zh-CN" sz="1600" b="1">
                <a:solidFill>
                  <a:srgbClr val="E96841"/>
                </a:solidFill>
                <a:latin typeface="Arial"/>
                <a:ea typeface="Microsoft YaHei"/>
              </a:rPr>
              <a:t xml:space="preserve">策略 A–J</a:t>
            </a:r>
            <a:endParaRPr lang="zh-CN" sz="1600"/>
          </a:p>
        </p:txBody>
      </p:sp>
      <p:sp>
        <p:nvSpPr>
          <p:cNvPr id="12" name="architecture layer"/>
          <p:cNvSpPr/>
          <p:nvPr/>
        </p:nvSpPr>
        <p:spPr>
          <a:xfrm>
            <a:off x="685800" y="3108960"/>
            <a:ext cx="3246120" cy="758952"/>
          </a:xfrm>
          <a:prstGeom prst="rect">
            <a:avLst/>
          </a:prstGeom>
          <a:solidFill>
            <a:srgbClr val="1E1A18"/>
          </a:solidFill>
          <a:ln>
            <a:noFill/>
          </a:ln>
        </p:spPr>
      </p:sp>
      <p:sp>
        <p:nvSpPr>
          <p:cNvPr id="13" name="architecture text"/>
          <p:cNvSpPr txBox="1"/>
          <p:nvPr/>
        </p:nvSpPr>
        <p:spPr>
          <a:xfrm>
            <a:off x="822960" y="3282696"/>
            <a:ext cx="29718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 marL="0" indent="0"/>
            <a:r>
              <a:rPr lang="zh-CN" sz="1600" b="1">
                <a:solidFill>
                  <a:srgbClr val="E96841"/>
                </a:solidFill>
                <a:latin typeface="Arial"/>
                <a:ea typeface="Microsoft YaHei"/>
              </a:rPr>
              <a:t xml:space="preserve">安全执行</a:t>
            </a:r>
            <a:endParaRPr lang="zh-CN" sz="1600"/>
          </a:p>
        </p:txBody>
      </p:sp>
      <p:sp>
        <p:nvSpPr>
          <p:cNvPr id="14" name="architecture layer"/>
          <p:cNvSpPr/>
          <p:nvPr/>
        </p:nvSpPr>
        <p:spPr>
          <a:xfrm>
            <a:off x="4343400" y="3108960"/>
            <a:ext cx="3246120" cy="758952"/>
          </a:xfrm>
          <a:prstGeom prst="rect">
            <a:avLst/>
          </a:prstGeom>
          <a:solidFill>
            <a:srgbClr val="1E1A18"/>
          </a:solidFill>
          <a:ln>
            <a:noFill/>
          </a:ln>
        </p:spPr>
      </p:sp>
      <p:sp>
        <p:nvSpPr>
          <p:cNvPr id="15" name="architecture text"/>
          <p:cNvSpPr txBox="1"/>
          <p:nvPr/>
        </p:nvSpPr>
        <p:spPr>
          <a:xfrm>
            <a:off x="4480560" y="3282696"/>
            <a:ext cx="29718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 marL="0" indent="0"/>
            <a:r>
              <a:rPr lang="zh-CN" sz="1600" b="1">
                <a:solidFill>
                  <a:srgbClr val="F5F0E9"/>
                </a:solidFill>
                <a:latin typeface="Arial"/>
                <a:ea typeface="Microsoft YaHei"/>
              </a:rPr>
              <a:t xml:space="preserve">统计 / JSON</a:t>
            </a:r>
            <a:endParaRPr lang="zh-CN" sz="1600"/>
          </a:p>
        </p:txBody>
      </p:sp>
      <p:sp>
        <p:nvSpPr>
          <p:cNvPr id="16" name="architecture layer"/>
          <p:cNvSpPr/>
          <p:nvPr/>
        </p:nvSpPr>
        <p:spPr>
          <a:xfrm>
            <a:off x="8001000" y="3108960"/>
            <a:ext cx="3246120" cy="758952"/>
          </a:xfrm>
          <a:prstGeom prst="rect">
            <a:avLst/>
          </a:prstGeom>
          <a:solidFill>
            <a:srgbClr val="1E1A18"/>
          </a:solidFill>
          <a:ln>
            <a:noFill/>
          </a:ln>
        </p:spPr>
      </p:sp>
      <p:sp>
        <p:nvSpPr>
          <p:cNvPr id="17" name="architecture text"/>
          <p:cNvSpPr txBox="1"/>
          <p:nvPr/>
        </p:nvSpPr>
        <p:spPr>
          <a:xfrm>
            <a:off x="8138160" y="3282696"/>
            <a:ext cx="29718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 marL="0" indent="0"/>
            <a:r>
              <a:rPr lang="zh-CN" sz="1600" b="1">
                <a:solidFill>
                  <a:srgbClr val="F5F0E9"/>
                </a:solidFill>
                <a:latin typeface="Arial"/>
                <a:ea typeface="Microsoft YaHei"/>
              </a:rPr>
              <a:t xml:space="preserve">FastAPI / React</a:t>
            </a:r>
            <a:endParaRPr lang="zh-CN" sz="1600"/>
          </a:p>
        </p:txBody>
      </p:sp>
      <p:sp>
        <p:nvSpPr>
          <p:cNvPr id="18" name="data flow"/>
          <p:cNvSpPr txBox="1"/>
          <p:nvPr/>
        </p:nvSpPr>
        <p:spPr>
          <a:xfrm>
            <a:off x="777240" y="4617720"/>
            <a:ext cx="1033272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 marL="0" indent="0"/>
            <a:r>
              <a:rPr lang="zh-CN" sz="1800" b="1">
                <a:solidFill>
                  <a:srgbClr val="F5F0E9"/>
                </a:solidFill>
                <a:latin typeface="Arial"/>
                <a:ea typeface="Microsoft YaHei"/>
              </a:rPr>
              <a:t xml:space="preserve">配置 → 状态 → 决策 → 约束执行 → 原始记录 → 只读 API → 离线回放</a:t>
            </a:r>
            <a:endParaRPr lang="zh-CN" sz="1800"/>
          </a:p>
        </p:txBody>
      </p:sp>
      <p:sp>
        <p:nvSpPr>
          <p:cNvPr id="19" name="footer rule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57443B"/>
          </a:solidFill>
          <a:ln>
            <a:noFill/>
          </a:ln>
        </p:spPr>
      </p:sp>
      <p:sp>
        <p:nvSpPr>
          <p:cNvPr id="20" name="footer disclaimer"/>
          <p:cNvSpPr txBox="1"/>
          <p:nvPr/>
        </p:nvSpPr>
        <p:spPr>
          <a:xfrm>
            <a:off x="658368" y="6547104"/>
            <a:ext cx="8412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720" b="0">
                <a:solidFill>
                  <a:srgbClr val="B9AAA0"/>
                </a:solidFill>
                <a:latin typeface="Arial"/>
                <a:ea typeface="Microsoft YaHei"/>
              </a:rPr>
              <a:t xml:space="preserve">仿真研究数据；非真实无线测量</a:t>
            </a:r>
            <a:endParaRPr lang="zh-CN" sz="720"/>
          </a:p>
        </p:txBody>
      </p:sp>
      <p:sp>
        <p:nvSpPr>
          <p:cNvPr id="21" name="page number"/>
          <p:cNvSpPr txBox="1"/>
          <p:nvPr/>
        </p:nvSpPr>
        <p:spPr>
          <a:xfrm>
            <a:off x="10607040" y="653796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 marL="0" indent="0"/>
            <a:r>
              <a:rPr lang="zh-CN" sz="800" b="1">
                <a:solidFill>
                  <a:srgbClr val="E96841"/>
                </a:solidFill>
                <a:latin typeface="Arial"/>
                <a:ea typeface="Microsoft YaHei"/>
              </a:rPr>
              <a:t xml:space="preserve">04 / 16</a:t>
            </a:r>
            <a:endParaRPr lang="zh-CN"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rm accent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96841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40080" y="347472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900" b="1">
                <a:solidFill>
                  <a:srgbClr val="E96841"/>
                </a:solidFill>
                <a:latin typeface="Arial"/>
                <a:ea typeface="Microsoft YaHei"/>
              </a:rPr>
              <a:t xml:space="preserve">6G / RESCUE   ·   场景设计研究</a:t>
            </a:r>
            <a:endParaRPr lang="zh-CN" sz="900"/>
          </a:p>
        </p:txBody>
      </p:sp>
      <p:sp>
        <p:nvSpPr>
          <p:cNvPr id="4" name="slide title"/>
          <p:cNvSpPr txBox="1"/>
          <p:nvPr/>
        </p:nvSpPr>
        <p:spPr>
          <a:xfrm>
            <a:off x="621792" y="658368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3700" b="1">
                <a:solidFill>
                  <a:srgbClr val="F5F0E9"/>
                </a:solidFill>
                <a:latin typeface="Arial"/>
                <a:ea typeface="Microsoft YaHei"/>
              </a:rPr>
              <a:t xml:space="preserve">端到端可行性模型</a:t>
            </a:r>
            <a:endParaRPr lang="zh-CN" sz="3700"/>
          </a:p>
        </p:txBody>
      </p:sp>
      <p:sp>
        <p:nvSpPr>
          <p:cNvPr id="5" name="subtitle"/>
          <p:cNvSpPr txBox="1"/>
          <p:nvPr/>
        </p:nvSpPr>
        <p:spPr>
          <a:xfrm>
            <a:off x="640080" y="1371600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600" b="0">
                <a:solidFill>
                  <a:srgbClr val="B9AAA0"/>
                </a:solidFill>
                <a:latin typeface="Arial"/>
                <a:ea typeface="Microsoft YaHei"/>
              </a:rPr>
              <a:t xml:space="preserve">任何一段不可行，恢复就不成立</a:t>
            </a:r>
            <a:endParaRPr lang="zh-CN" sz="1600"/>
          </a:p>
        </p:txBody>
      </p:sp>
      <p:sp>
        <p:nvSpPr>
          <p:cNvPr id="6" name="fact card"/>
          <p:cNvSpPr/>
          <p:nvPr/>
        </p:nvSpPr>
        <p:spPr>
          <a:xfrm>
            <a:off x="749808" y="1920240"/>
            <a:ext cx="4937760" cy="713232"/>
          </a:xfrm>
          <a:prstGeom prst="rect">
            <a:avLst/>
          </a:prstGeom>
          <a:solidFill>
            <a:srgbClr val="1E1A18"/>
          </a:solidFill>
          <a:ln>
            <a:noFill/>
          </a:ln>
        </p:spPr>
      </p:sp>
      <p:sp>
        <p:nvSpPr>
          <p:cNvPr id="7" name="fact text"/>
          <p:cNvSpPr txBox="1"/>
          <p:nvPr/>
        </p:nvSpPr>
        <p:spPr>
          <a:xfrm>
            <a:off x="914400" y="2048256"/>
            <a:ext cx="4617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450" b="0">
                <a:solidFill>
                  <a:srgbClr val="F5F0E9"/>
                </a:solidFill>
                <a:latin typeface="Arial"/>
                <a:ea typeface="Microsoft YaHei"/>
              </a:rPr>
              <a:t xml:space="preserve">接入：距离 / 链路预算与用户业务需求</a:t>
            </a:r>
            <a:endParaRPr lang="zh-CN" sz="1450"/>
          </a:p>
        </p:txBody>
      </p:sp>
      <p:sp>
        <p:nvSpPr>
          <p:cNvPr id="8" name="fact card"/>
          <p:cNvSpPr/>
          <p:nvPr/>
        </p:nvSpPr>
        <p:spPr>
          <a:xfrm>
            <a:off x="6144768" y="1920240"/>
            <a:ext cx="4937760" cy="713232"/>
          </a:xfrm>
          <a:prstGeom prst="rect">
            <a:avLst/>
          </a:prstGeom>
          <a:solidFill>
            <a:srgbClr val="1E1A18"/>
          </a:solidFill>
          <a:ln>
            <a:noFill/>
          </a:ln>
        </p:spPr>
      </p:sp>
      <p:sp>
        <p:nvSpPr>
          <p:cNvPr id="9" name="fact text"/>
          <p:cNvSpPr txBox="1"/>
          <p:nvPr/>
        </p:nvSpPr>
        <p:spPr>
          <a:xfrm>
            <a:off x="6309360" y="2048256"/>
            <a:ext cx="4617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450" b="0">
                <a:solidFill>
                  <a:srgbClr val="F5F0E9"/>
                </a:solidFill>
                <a:latin typeface="Arial"/>
                <a:ea typeface="Microsoft YaHei"/>
              </a:rPr>
              <a:t xml:space="preserve">回传：必须连到健康基站并受共享容量限制</a:t>
            </a:r>
            <a:endParaRPr lang="zh-CN" sz="1450"/>
          </a:p>
        </p:txBody>
      </p:sp>
      <p:sp>
        <p:nvSpPr>
          <p:cNvPr id="10" name="fact card"/>
          <p:cNvSpPr/>
          <p:nvPr/>
        </p:nvSpPr>
        <p:spPr>
          <a:xfrm>
            <a:off x="749808" y="2944368"/>
            <a:ext cx="4937760" cy="713232"/>
          </a:xfrm>
          <a:prstGeom prst="rect">
            <a:avLst/>
          </a:prstGeom>
          <a:solidFill>
            <a:srgbClr val="1E1A18"/>
          </a:solidFill>
          <a:ln>
            <a:noFill/>
          </a:ln>
        </p:spPr>
      </p:sp>
      <p:sp>
        <p:nvSpPr>
          <p:cNvPr id="11" name="fact text"/>
          <p:cNvSpPr txBox="1"/>
          <p:nvPr/>
        </p:nvSpPr>
        <p:spPr>
          <a:xfrm>
            <a:off x="914400" y="3072384"/>
            <a:ext cx="4617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450" b="0">
                <a:solidFill>
                  <a:srgbClr val="F5F0E9"/>
                </a:solidFill>
                <a:latin typeface="Arial"/>
                <a:ea typeface="Microsoft YaHei"/>
              </a:rPr>
              <a:t xml:space="preserve">机队：无人机容量、速度、边界、储备与返航</a:t>
            </a:r>
            <a:endParaRPr lang="zh-CN" sz="1450"/>
          </a:p>
        </p:txBody>
      </p:sp>
      <p:sp>
        <p:nvSpPr>
          <p:cNvPr id="12" name="fact card"/>
          <p:cNvSpPr/>
          <p:nvPr/>
        </p:nvSpPr>
        <p:spPr>
          <a:xfrm>
            <a:off x="6144768" y="2944368"/>
            <a:ext cx="4937760" cy="713232"/>
          </a:xfrm>
          <a:prstGeom prst="rect">
            <a:avLst/>
          </a:prstGeom>
          <a:solidFill>
            <a:srgbClr val="1E1A18"/>
          </a:solidFill>
          <a:ln>
            <a:noFill/>
          </a:ln>
        </p:spPr>
      </p:sp>
      <p:sp>
        <p:nvSpPr>
          <p:cNvPr id="13" name="fact text"/>
          <p:cNvSpPr txBox="1"/>
          <p:nvPr/>
        </p:nvSpPr>
        <p:spPr>
          <a:xfrm>
            <a:off x="6309360" y="3072384"/>
            <a:ext cx="4617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450" b="0">
                <a:solidFill>
                  <a:srgbClr val="F5F0E9"/>
                </a:solidFill>
                <a:latin typeface="Arial"/>
                <a:ea typeface="Microsoft YaHei"/>
              </a:rPr>
              <a:t xml:space="preserve">指标：覆盖、服务、恢复、时延、能耗分别计算</a:t>
            </a:r>
            <a:endParaRPr lang="zh-CN" sz="1450"/>
          </a:p>
        </p:txBody>
      </p:sp>
      <p:sp>
        <p:nvSpPr>
          <p:cNvPr id="14" name="footer rule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57443B"/>
          </a:solidFill>
          <a:ln>
            <a:noFill/>
          </a:ln>
        </p:spPr>
      </p:sp>
      <p:sp>
        <p:nvSpPr>
          <p:cNvPr id="15" name="footer disclaimer"/>
          <p:cNvSpPr txBox="1"/>
          <p:nvPr/>
        </p:nvSpPr>
        <p:spPr>
          <a:xfrm>
            <a:off x="658368" y="6547104"/>
            <a:ext cx="8412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720" b="0">
                <a:solidFill>
                  <a:srgbClr val="B9AAA0"/>
                </a:solidFill>
                <a:latin typeface="Arial"/>
                <a:ea typeface="Microsoft YaHei"/>
              </a:rPr>
              <a:t xml:space="preserve">仿真研究数据；非真实无线测量</a:t>
            </a:r>
            <a:endParaRPr lang="zh-CN" sz="720"/>
          </a:p>
        </p:txBody>
      </p:sp>
      <p:sp>
        <p:nvSpPr>
          <p:cNvPr id="16" name="page number"/>
          <p:cNvSpPr txBox="1"/>
          <p:nvPr/>
        </p:nvSpPr>
        <p:spPr>
          <a:xfrm>
            <a:off x="10607040" y="653796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 marL="0" indent="0"/>
            <a:r>
              <a:rPr lang="zh-CN" sz="800" b="1">
                <a:solidFill>
                  <a:srgbClr val="E96841"/>
                </a:solidFill>
                <a:latin typeface="Arial"/>
                <a:ea typeface="Microsoft YaHei"/>
              </a:rPr>
              <a:t xml:space="preserve">05 / 16</a:t>
            </a:r>
            <a:endParaRPr lang="zh-CN" sz="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rm accent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96841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40080" y="347472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900" b="1">
                <a:solidFill>
                  <a:srgbClr val="E96841"/>
                </a:solidFill>
                <a:latin typeface="Arial"/>
                <a:ea typeface="Microsoft YaHei"/>
              </a:rPr>
              <a:t xml:space="preserve">6G / RESCUE   ·   场景设计研究</a:t>
            </a:r>
            <a:endParaRPr lang="zh-CN" sz="900"/>
          </a:p>
        </p:txBody>
      </p:sp>
      <p:sp>
        <p:nvSpPr>
          <p:cNvPr id="4" name="slide title"/>
          <p:cNvSpPr txBox="1"/>
          <p:nvPr/>
        </p:nvSpPr>
        <p:spPr>
          <a:xfrm>
            <a:off x="621792" y="658368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3700" b="1">
                <a:solidFill>
                  <a:srgbClr val="F5F0E9"/>
                </a:solidFill>
                <a:latin typeface="Arial"/>
                <a:ea typeface="Microsoft YaHei"/>
              </a:rPr>
              <a:t xml:space="preserve">策略族与公平比较</a:t>
            </a:r>
            <a:endParaRPr lang="zh-CN" sz="3700"/>
          </a:p>
        </p:txBody>
      </p:sp>
      <p:sp>
        <p:nvSpPr>
          <p:cNvPr id="5" name="subtitle"/>
          <p:cNvSpPr txBox="1"/>
          <p:nvPr/>
        </p:nvSpPr>
        <p:spPr>
          <a:xfrm>
            <a:off x="640080" y="1371600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600" b="0">
                <a:solidFill>
                  <a:srgbClr val="B9AAA0"/>
                </a:solidFill>
                <a:latin typeface="Arial"/>
                <a:ea typeface="Microsoft YaHei"/>
              </a:rPr>
              <a:t xml:space="preserve">对照基线，而非算法名称竞赛</a:t>
            </a:r>
            <a:endParaRPr lang="zh-CN" sz="1600"/>
          </a:p>
        </p:txBody>
      </p:sp>
      <p:sp>
        <p:nvSpPr>
          <p:cNvPr id="6" name="policy row"/>
          <p:cNvSpPr/>
          <p:nvPr/>
        </p:nvSpPr>
        <p:spPr>
          <a:xfrm>
            <a:off x="749808" y="1920240"/>
            <a:ext cx="10744200" cy="502920"/>
          </a:xfrm>
          <a:prstGeom prst="rect">
            <a:avLst/>
          </a:prstGeom>
          <a:solidFill>
            <a:srgbClr val="1E1A18"/>
          </a:solidFill>
          <a:ln>
            <a:noFill/>
          </a:ln>
        </p:spPr>
      </p:sp>
      <p:sp>
        <p:nvSpPr>
          <p:cNvPr id="7" name="policy text"/>
          <p:cNvSpPr txBox="1"/>
          <p:nvPr/>
        </p:nvSpPr>
        <p:spPr>
          <a:xfrm>
            <a:off x="932688" y="2011680"/>
            <a:ext cx="10332720" cy="3383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300" b="0">
                <a:solidFill>
                  <a:srgbClr val="F5F0E9"/>
                </a:solidFill>
                <a:latin typeface="Arial"/>
                <a:ea typeface="Microsoft YaHei"/>
              </a:rPr>
              <a:t xml:space="preserve">A 无无人机；B/B′ 静态网格；C 滚动优化；D 救援优先词典序</a:t>
            </a:r>
            <a:endParaRPr lang="zh-CN" sz="1300"/>
          </a:p>
        </p:txBody>
      </p:sp>
      <p:sp>
        <p:nvSpPr>
          <p:cNvPr id="8" name="policy row"/>
          <p:cNvSpPr/>
          <p:nvPr/>
        </p:nvSpPr>
        <p:spPr>
          <a:xfrm>
            <a:off x="749808" y="2578608"/>
            <a:ext cx="10744200" cy="502920"/>
          </a:xfrm>
          <a:prstGeom prst="rect">
            <a:avLst/>
          </a:prstGeom>
          <a:solidFill>
            <a:srgbClr val="1E1A18"/>
          </a:solidFill>
          <a:ln>
            <a:noFill/>
          </a:ln>
        </p:spPr>
      </p:sp>
      <p:sp>
        <p:nvSpPr>
          <p:cNvPr id="9" name="policy text"/>
          <p:cNvSpPr txBox="1"/>
          <p:nvPr/>
        </p:nvSpPr>
        <p:spPr>
          <a:xfrm>
            <a:off x="932688" y="2670048"/>
            <a:ext cx="10332720" cy="3383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300" b="0">
                <a:solidFill>
                  <a:srgbClr val="F5F0E9"/>
                </a:solidFill>
                <a:latin typeface="Arial"/>
                <a:ea typeface="Microsoft YaHei"/>
              </a:rPr>
              <a:t xml:space="preserve">E 事件触发；F 独立多机贪心；G 集中式候选搜索</a:t>
            </a:r>
            <a:endParaRPr lang="zh-CN" sz="1300"/>
          </a:p>
        </p:txBody>
      </p:sp>
      <p:sp>
        <p:nvSpPr>
          <p:cNvPr id="10" name="policy row"/>
          <p:cNvSpPr/>
          <p:nvPr/>
        </p:nvSpPr>
        <p:spPr>
          <a:xfrm>
            <a:off x="749808" y="3236976"/>
            <a:ext cx="10744200" cy="502920"/>
          </a:xfrm>
          <a:prstGeom prst="rect">
            <a:avLst/>
          </a:prstGeom>
          <a:solidFill>
            <a:srgbClr val="1E1A18"/>
          </a:solidFill>
          <a:ln>
            <a:noFill/>
          </a:ln>
        </p:spPr>
      </p:sp>
      <p:sp>
        <p:nvSpPr>
          <p:cNvPr id="11" name="policy text"/>
          <p:cNvSpPr txBox="1"/>
          <p:nvPr/>
        </p:nvSpPr>
        <p:spPr>
          <a:xfrm>
            <a:off x="932688" y="3328416"/>
            <a:ext cx="10332720" cy="3383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300" b="0">
                <a:solidFill>
                  <a:srgbClr val="F5F0E9"/>
                </a:solidFill>
                <a:latin typeface="Arial"/>
                <a:ea typeface="Microsoft YaHei"/>
              </a:rPr>
              <a:t xml:space="preserve">H 边际救援覆盖；I 用户—资源匹配；J 预算受限联合规划</a:t>
            </a:r>
            <a:endParaRPr lang="zh-CN" sz="1300"/>
          </a:p>
        </p:txBody>
      </p:sp>
      <p:sp>
        <p:nvSpPr>
          <p:cNvPr id="12" name="policy row"/>
          <p:cNvSpPr/>
          <p:nvPr/>
        </p:nvSpPr>
        <p:spPr>
          <a:xfrm>
            <a:off x="749808" y="3895344"/>
            <a:ext cx="10744200" cy="502920"/>
          </a:xfrm>
          <a:prstGeom prst="rect">
            <a:avLst/>
          </a:prstGeom>
          <a:solidFill>
            <a:srgbClr val="1E1A18"/>
          </a:solidFill>
          <a:ln>
            <a:noFill/>
          </a:ln>
        </p:spPr>
      </p:sp>
      <p:sp>
        <p:nvSpPr>
          <p:cNvPr id="13" name="policy text"/>
          <p:cNvSpPr txBox="1"/>
          <p:nvPr/>
        </p:nvSpPr>
        <p:spPr>
          <a:xfrm>
            <a:off x="932688" y="3986784"/>
            <a:ext cx="10332720" cy="3383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300" b="1">
                <a:solidFill>
                  <a:srgbClr val="F5F0E9"/>
                </a:solidFill>
                <a:latin typeface="Arial"/>
                <a:ea typeface="Microsoft YaHei"/>
              </a:rPr>
              <a:t xml:space="preserve">C–J 均为规则或确定性优化，不是训练型机器学习</a:t>
            </a:r>
            <a:endParaRPr lang="zh-CN" sz="1300"/>
          </a:p>
        </p:txBody>
      </p:sp>
      <p:sp>
        <p:nvSpPr>
          <p:cNvPr id="14" name="footer rule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57443B"/>
          </a:solidFill>
          <a:ln>
            <a:noFill/>
          </a:ln>
        </p:spPr>
      </p:sp>
      <p:sp>
        <p:nvSpPr>
          <p:cNvPr id="15" name="footer disclaimer"/>
          <p:cNvSpPr txBox="1"/>
          <p:nvPr/>
        </p:nvSpPr>
        <p:spPr>
          <a:xfrm>
            <a:off x="658368" y="6547104"/>
            <a:ext cx="8412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720" b="0">
                <a:solidFill>
                  <a:srgbClr val="B9AAA0"/>
                </a:solidFill>
                <a:latin typeface="Arial"/>
                <a:ea typeface="Microsoft YaHei"/>
              </a:rPr>
              <a:t xml:space="preserve">仿真研究数据；非真实无线测量</a:t>
            </a:r>
            <a:endParaRPr lang="zh-CN" sz="720"/>
          </a:p>
        </p:txBody>
      </p:sp>
      <p:sp>
        <p:nvSpPr>
          <p:cNvPr id="16" name="page number"/>
          <p:cNvSpPr txBox="1"/>
          <p:nvPr/>
        </p:nvSpPr>
        <p:spPr>
          <a:xfrm>
            <a:off x="10607040" y="653796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 marL="0" indent="0"/>
            <a:r>
              <a:rPr lang="zh-CN" sz="800" b="1">
                <a:solidFill>
                  <a:srgbClr val="E96841"/>
                </a:solidFill>
                <a:latin typeface="Arial"/>
                <a:ea typeface="Microsoft YaHei"/>
              </a:rPr>
              <a:t xml:space="preserve">06 / 16</a:t>
            </a:r>
            <a:endParaRPr lang="zh-CN"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rm accent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96841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40080" y="347472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900" b="1">
                <a:solidFill>
                  <a:srgbClr val="E96841"/>
                </a:solidFill>
                <a:latin typeface="Arial"/>
                <a:ea typeface="Microsoft YaHei"/>
              </a:rPr>
              <a:t xml:space="preserve">6G / RESCUE   ·   场景设计研究</a:t>
            </a:r>
            <a:endParaRPr lang="zh-CN" sz="900"/>
          </a:p>
        </p:txBody>
      </p:sp>
      <p:sp>
        <p:nvSpPr>
          <p:cNvPr id="4" name="slide title"/>
          <p:cNvSpPr txBox="1"/>
          <p:nvPr/>
        </p:nvSpPr>
        <p:spPr>
          <a:xfrm>
            <a:off x="621792" y="658368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3700" b="1">
                <a:solidFill>
                  <a:srgbClr val="F5F0E9"/>
                </a:solidFill>
                <a:latin typeface="Arial"/>
                <a:ea typeface="Microsoft YaHei"/>
              </a:rPr>
              <a:t xml:space="preserve">多无人机：严重故障的模型内收益</a:t>
            </a:r>
            <a:endParaRPr lang="zh-CN" sz="3700"/>
          </a:p>
        </p:txBody>
      </p:sp>
      <p:sp>
        <p:nvSpPr>
          <p:cNvPr id="5" name="subtitle"/>
          <p:cNvSpPr txBox="1"/>
          <p:nvPr/>
        </p:nvSpPr>
        <p:spPr>
          <a:xfrm>
            <a:off x="640080" y="1371600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600" b="0">
                <a:solidFill>
                  <a:srgbClr val="B9AAA0"/>
                </a:solidFill>
                <a:latin typeface="Arial"/>
                <a:ea typeface="Microsoft YaHei"/>
              </a:rPr>
              <a:t xml:space="preserve">Phase 10 · 80 个确认种子 · 400 次策略运行</a:t>
            </a:r>
            <a:endParaRPr lang="zh-CN" sz="1600"/>
          </a:p>
        </p:txBody>
      </p:sp>
      <p:sp>
        <p:nvSpPr>
          <p:cNvPr id="6" name="key findings"/>
          <p:cNvSpPr txBox="1"/>
          <p:nvPr/>
        </p:nvSpPr>
        <p:spPr>
          <a:xfrm>
            <a:off x="658368" y="1874520"/>
            <a:ext cx="4251960" cy="32461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550" b="0">
                <a:solidFill>
                  <a:srgbClr val="F5F0E9"/>
                </a:solidFill>
                <a:latin typeface="Arial"/>
                <a:ea typeface="Microsoft YaHei"/>
              </a:rPr>
              <a:t xml:space="preserve">严重持续故障：B′ 58.66%；G2 66.58%；G3 66.89%。</a:t>
            </a:r>
            <a:endParaRPr lang="zh-CN" sz="1550"/>
          </a:p>
          <a:p>
            <a:pPr algn="l" marL="0" indent="0"/>
            <a:r>
              <a:rPr lang="zh-CN" sz="1550" b="0">
                <a:solidFill>
                  <a:srgbClr val="F5F0E9"/>
                </a:solidFill>
                <a:latin typeface="Arial"/>
                <a:ea typeface="Microsoft YaHei"/>
              </a:rPr>
              <a:t xml:space="preserve">高负载：F3 49.99%；G3 47.40%。</a:t>
            </a:r>
            <a:endParaRPr lang="zh-CN" sz="1550"/>
          </a:p>
          <a:p>
            <a:pPr algn="l" marL="0" indent="0"/>
            <a:r>
              <a:rPr lang="zh-CN" sz="1550" b="0">
                <a:solidFill>
                  <a:srgbClr val="F5F0E9"/>
                </a:solidFill>
                <a:latin typeface="Arial"/>
                <a:ea typeface="Microsoft YaHei"/>
              </a:rPr>
              <a:t xml:space="preserve">增加机队可改善部分场景，但收益不等于算法协同的单独因果效应。</a:t>
            </a:r>
            <a:endParaRPr lang="zh-CN" sz="1550"/>
          </a:p>
        </p:txBody>
      </p:sp>
      <p:sp>
        <p:nvSpPr>
          <p:cNvPr id="7" name="image panel"/>
          <p:cNvSpPr/>
          <p:nvPr/>
        </p:nvSpPr>
        <p:spPr>
          <a:xfrm>
            <a:off x="5074920" y="1691640"/>
            <a:ext cx="6446520" cy="4251960"/>
          </a:xfrm>
          <a:prstGeom prst="rect">
            <a:avLst/>
          </a:prstGeom>
          <a:solidFill>
            <a:srgbClr val="1E1A18"/>
          </a:solidFill>
          <a:ln>
            <a:noFill/>
          </a:ln>
        </p:spPr>
      </p:sp>
      <p:pic>
        <p:nvPicPr>
          <p:cNvPr id="8" name="evidenc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1828800"/>
            <a:ext cx="6126480" cy="3703320"/>
          </a:xfrm>
          <a:prstGeom prst="rect">
            <a:avLst/>
          </a:prstGeom>
          <a:ln>
            <a:solidFill>
              <a:srgbClr val="59443A"/>
            </a:solidFill>
          </a:ln>
        </p:spPr>
      </p:pic>
      <p:sp>
        <p:nvSpPr>
          <p:cNvPr id="9" name="evidence caption"/>
          <p:cNvSpPr txBox="1"/>
          <p:nvPr/>
        </p:nvSpPr>
        <p:spPr>
          <a:xfrm>
            <a:off x="5230368" y="5577840"/>
            <a:ext cx="6172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750" b="0">
                <a:solidFill>
                  <a:srgbClr val="B9AAA0"/>
                </a:solidFill>
                <a:latin typeface="Arial"/>
                <a:ea typeface="Microsoft YaHei"/>
              </a:rPr>
              <a:t xml:space="preserve">来源：plots/phase10/confirmation_policy_comparison.png；各场景 20 个留出种子。</a:t>
            </a:r>
            <a:endParaRPr lang="zh-CN" sz="750"/>
          </a:p>
        </p:txBody>
      </p:sp>
      <p:sp>
        <p:nvSpPr>
          <p:cNvPr id="10" name="footer rule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57443B"/>
          </a:solidFill>
          <a:ln>
            <a:noFill/>
          </a:ln>
        </p:spPr>
      </p:sp>
      <p:sp>
        <p:nvSpPr>
          <p:cNvPr id="11" name="footer disclaimer"/>
          <p:cNvSpPr txBox="1"/>
          <p:nvPr/>
        </p:nvSpPr>
        <p:spPr>
          <a:xfrm>
            <a:off x="658368" y="6547104"/>
            <a:ext cx="8412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720" b="0">
                <a:solidFill>
                  <a:srgbClr val="B9AAA0"/>
                </a:solidFill>
                <a:latin typeface="Arial"/>
                <a:ea typeface="Microsoft YaHei"/>
              </a:rPr>
              <a:t xml:space="preserve">仿真研究数据；非真实无线测量</a:t>
            </a:r>
            <a:endParaRPr lang="zh-CN" sz="720"/>
          </a:p>
        </p:txBody>
      </p:sp>
      <p:sp>
        <p:nvSpPr>
          <p:cNvPr id="12" name="page number"/>
          <p:cNvSpPr txBox="1"/>
          <p:nvPr/>
        </p:nvSpPr>
        <p:spPr>
          <a:xfrm>
            <a:off x="10607040" y="653796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 marL="0" indent="0"/>
            <a:r>
              <a:rPr lang="zh-CN" sz="800" b="1">
                <a:solidFill>
                  <a:srgbClr val="E96841"/>
                </a:solidFill>
                <a:latin typeface="Arial"/>
                <a:ea typeface="Microsoft YaHei"/>
              </a:rPr>
              <a:t xml:space="preserve">07 / 16</a:t>
            </a:r>
            <a:endParaRPr lang="zh-CN"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rm accent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96841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40080" y="347472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900" b="1">
                <a:solidFill>
                  <a:srgbClr val="E96841"/>
                </a:solidFill>
                <a:latin typeface="Arial"/>
                <a:ea typeface="Microsoft YaHei"/>
              </a:rPr>
              <a:t xml:space="preserve">6G / RESCUE   ·   场景设计研究</a:t>
            </a:r>
            <a:endParaRPr lang="zh-CN" sz="900"/>
          </a:p>
        </p:txBody>
      </p:sp>
      <p:sp>
        <p:nvSpPr>
          <p:cNvPr id="4" name="slide title"/>
          <p:cNvSpPr txBox="1"/>
          <p:nvPr/>
        </p:nvSpPr>
        <p:spPr>
          <a:xfrm>
            <a:off x="621792" y="658368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3700" b="1">
                <a:solidFill>
                  <a:srgbClr val="F5F0E9"/>
                </a:solidFill>
                <a:latin typeface="Arial"/>
                <a:ea typeface="Microsoft YaHei"/>
              </a:rPr>
              <a:t xml:space="preserve">没有全场景赢家</a:t>
            </a:r>
            <a:endParaRPr lang="zh-CN" sz="3700"/>
          </a:p>
        </p:txBody>
      </p:sp>
      <p:sp>
        <p:nvSpPr>
          <p:cNvPr id="5" name="subtitle"/>
          <p:cNvSpPr txBox="1"/>
          <p:nvPr/>
        </p:nvSpPr>
        <p:spPr>
          <a:xfrm>
            <a:off x="640080" y="1371600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600" b="0">
                <a:solidFill>
                  <a:srgbClr val="B9AAA0"/>
                </a:solidFill>
                <a:latin typeface="Arial"/>
                <a:ea typeface="Microsoft YaHei"/>
              </a:rPr>
              <a:t xml:space="preserve">Phase 11 · 同种子配对 · 880 次确认运行</a:t>
            </a:r>
            <a:endParaRPr lang="zh-CN" sz="1600"/>
          </a:p>
        </p:txBody>
      </p:sp>
      <p:sp>
        <p:nvSpPr>
          <p:cNvPr id="6" name="key findings"/>
          <p:cNvSpPr txBox="1"/>
          <p:nvPr/>
        </p:nvSpPr>
        <p:spPr>
          <a:xfrm>
            <a:off x="658368" y="1874520"/>
            <a:ext cx="4251960" cy="32461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550" b="0">
                <a:solidFill>
                  <a:srgbClr val="F5F0E9"/>
                </a:solidFill>
                <a:latin typeface="Arial"/>
                <a:ea typeface="Microsoft YaHei"/>
              </a:rPr>
              <a:t xml:space="preserve">动态场景：B′ 18.14%，G3 19.22%；成功恢复/持续恢复须同时判断。</a:t>
            </a:r>
            <a:endParaRPr lang="zh-CN" sz="1550"/>
          </a:p>
          <a:p>
            <a:pPr algn="l" marL="0" indent="0"/>
            <a:r>
              <a:rPr lang="zh-CN" sz="1550" b="0">
                <a:solidFill>
                  <a:srgbClr val="F5F0E9"/>
                </a:solidFill>
                <a:latin typeface="Arial"/>
                <a:ea typeface="Microsoft YaHei"/>
              </a:rPr>
              <a:t xml:space="preserve">高移动：G2 66.25%，F2 65.26%；高负载下策略排序不同。</a:t>
            </a:r>
            <a:endParaRPr lang="zh-CN" sz="1550"/>
          </a:p>
          <a:p>
            <a:pPr algn="l" marL="0" indent="0"/>
            <a:r>
              <a:rPr lang="zh-CN" sz="1550" b="0">
                <a:solidFill>
                  <a:srgbClr val="F5F0E9"/>
                </a:solidFill>
                <a:latin typeface="Arial"/>
                <a:ea typeface="Microsoft YaHei"/>
              </a:rPr>
              <a:t xml:space="preserve">策略选择要随回传资源、机队规模和灾害动态调整。</a:t>
            </a:r>
            <a:endParaRPr lang="zh-CN" sz="1550"/>
          </a:p>
        </p:txBody>
      </p:sp>
      <p:sp>
        <p:nvSpPr>
          <p:cNvPr id="7" name="image panel"/>
          <p:cNvSpPr/>
          <p:nvPr/>
        </p:nvSpPr>
        <p:spPr>
          <a:xfrm>
            <a:off x="5074920" y="1691640"/>
            <a:ext cx="6446520" cy="4251960"/>
          </a:xfrm>
          <a:prstGeom prst="rect">
            <a:avLst/>
          </a:prstGeom>
          <a:solidFill>
            <a:srgbClr val="1E1A18"/>
          </a:solidFill>
          <a:ln>
            <a:noFill/>
          </a:ln>
        </p:spPr>
      </p:sp>
      <p:pic>
        <p:nvPicPr>
          <p:cNvPr id="8" name="evidenc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1828800"/>
            <a:ext cx="6126480" cy="3703320"/>
          </a:xfrm>
          <a:prstGeom prst="rect">
            <a:avLst/>
          </a:prstGeom>
          <a:ln>
            <a:solidFill>
              <a:srgbClr val="59443A"/>
            </a:solidFill>
          </a:ln>
        </p:spPr>
      </p:pic>
      <p:sp>
        <p:nvSpPr>
          <p:cNvPr id="9" name="evidence caption"/>
          <p:cNvSpPr txBox="1"/>
          <p:nvPr/>
        </p:nvSpPr>
        <p:spPr>
          <a:xfrm>
            <a:off x="5230368" y="5577840"/>
            <a:ext cx="6172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750" b="0">
                <a:solidFill>
                  <a:srgbClr val="B9AAA0"/>
                </a:solidFill>
                <a:latin typeface="Arial"/>
                <a:ea typeface="Microsoft YaHei"/>
              </a:rPr>
              <a:t xml:space="preserve">来源：Phase 11 confirmation，4 场景×20 留出种子；不是现场网络 KPI。</a:t>
            </a:r>
            <a:endParaRPr lang="zh-CN" sz="750"/>
          </a:p>
        </p:txBody>
      </p:sp>
      <p:sp>
        <p:nvSpPr>
          <p:cNvPr id="10" name="footer rule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57443B"/>
          </a:solidFill>
          <a:ln>
            <a:noFill/>
          </a:ln>
        </p:spPr>
      </p:sp>
      <p:sp>
        <p:nvSpPr>
          <p:cNvPr id="11" name="footer disclaimer"/>
          <p:cNvSpPr txBox="1"/>
          <p:nvPr/>
        </p:nvSpPr>
        <p:spPr>
          <a:xfrm>
            <a:off x="658368" y="6547104"/>
            <a:ext cx="8412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720" b="0">
                <a:solidFill>
                  <a:srgbClr val="B9AAA0"/>
                </a:solidFill>
                <a:latin typeface="Arial"/>
                <a:ea typeface="Microsoft YaHei"/>
              </a:rPr>
              <a:t xml:space="preserve">仿真研究数据；非真实无线测量</a:t>
            </a:r>
            <a:endParaRPr lang="zh-CN" sz="720"/>
          </a:p>
        </p:txBody>
      </p:sp>
      <p:sp>
        <p:nvSpPr>
          <p:cNvPr id="12" name="page number"/>
          <p:cNvSpPr txBox="1"/>
          <p:nvPr/>
        </p:nvSpPr>
        <p:spPr>
          <a:xfrm>
            <a:off x="10607040" y="653796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 marL="0" indent="0"/>
            <a:r>
              <a:rPr lang="zh-CN" sz="800" b="1">
                <a:solidFill>
                  <a:srgbClr val="E96841"/>
                </a:solidFill>
                <a:latin typeface="Arial"/>
                <a:ea typeface="Microsoft YaHei"/>
              </a:rPr>
              <a:t xml:space="preserve">08 / 16</a:t>
            </a:r>
            <a:endParaRPr lang="zh-CN" sz="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rm accent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96841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40080" y="347472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900" b="1">
                <a:solidFill>
                  <a:srgbClr val="E96841"/>
                </a:solidFill>
                <a:latin typeface="Arial"/>
                <a:ea typeface="Microsoft YaHei"/>
              </a:rPr>
              <a:t xml:space="preserve">6G / RESCUE   ·   场景设计研究</a:t>
            </a:r>
            <a:endParaRPr lang="zh-CN" sz="900"/>
          </a:p>
        </p:txBody>
      </p:sp>
      <p:sp>
        <p:nvSpPr>
          <p:cNvPr id="4" name="slide title"/>
          <p:cNvSpPr txBox="1"/>
          <p:nvPr/>
        </p:nvSpPr>
        <p:spPr>
          <a:xfrm>
            <a:off x="621792" y="658368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3700" b="1">
                <a:solidFill>
                  <a:srgbClr val="F5F0E9"/>
                </a:solidFill>
                <a:latin typeface="Arial"/>
                <a:ea typeface="Microsoft YaHei"/>
              </a:rPr>
              <a:t xml:space="preserve">事件触发也会失败</a:t>
            </a:r>
            <a:endParaRPr lang="zh-CN" sz="3700"/>
          </a:p>
        </p:txBody>
      </p:sp>
      <p:sp>
        <p:nvSpPr>
          <p:cNvPr id="5" name="subtitle"/>
          <p:cNvSpPr txBox="1"/>
          <p:nvPr/>
        </p:nvSpPr>
        <p:spPr>
          <a:xfrm>
            <a:off x="640080" y="1371600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600" b="0">
                <a:solidFill>
                  <a:srgbClr val="B9AAA0"/>
                </a:solidFill>
                <a:latin typeface="Arial"/>
                <a:ea typeface="Microsoft YaHei"/>
              </a:rPr>
              <a:t xml:space="preserve">Phase 9 动态故障确认实验 · 20 个配对种子</a:t>
            </a:r>
            <a:endParaRPr lang="zh-CN" sz="1600"/>
          </a:p>
        </p:txBody>
      </p:sp>
      <p:sp>
        <p:nvSpPr>
          <p:cNvPr id="6" name="key findings"/>
          <p:cNvSpPr txBox="1"/>
          <p:nvPr/>
        </p:nvSpPr>
        <p:spPr>
          <a:xfrm>
            <a:off x="658368" y="1874520"/>
            <a:ext cx="4251960" cy="32461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550" b="0">
                <a:solidFill>
                  <a:srgbClr val="F5F0E9"/>
                </a:solidFill>
                <a:latin typeface="Arial"/>
                <a:ea typeface="Microsoft YaHei"/>
              </a:rPr>
              <a:t xml:space="preserve">E 救援服务率 13.15%；B′ 20.19%。</a:t>
            </a:r>
            <a:endParaRPr lang="zh-CN" sz="1550"/>
          </a:p>
          <a:p>
            <a:pPr algn="l" marL="0" indent="0"/>
            <a:r>
              <a:rPr lang="zh-CN" sz="1550" b="0">
                <a:solidFill>
                  <a:srgbClr val="F5F0E9"/>
                </a:solidFill>
                <a:latin typeface="Arial"/>
                <a:ea typeface="Microsoft YaHei"/>
              </a:rPr>
              <a:t xml:space="preserve">持续 30 秒恢复：E 0/20；B′ 12/20。</a:t>
            </a:r>
            <a:endParaRPr lang="zh-CN" sz="1550"/>
          </a:p>
          <a:p>
            <a:pPr algn="l" marL="0" indent="0"/>
            <a:r>
              <a:rPr lang="zh-CN" sz="1550" b="0">
                <a:solidFill>
                  <a:srgbClr val="F5F0E9"/>
                </a:solidFill>
                <a:latin typeface="Arial"/>
                <a:ea typeface="Microsoft YaHei"/>
              </a:rPr>
              <a:t xml:space="preserve">E 每次决策计算约多 553 ms。零检测延迟不等于恢复收益。</a:t>
            </a:r>
            <a:endParaRPr lang="zh-CN" sz="1550"/>
          </a:p>
        </p:txBody>
      </p:sp>
      <p:sp>
        <p:nvSpPr>
          <p:cNvPr id="7" name="image panel"/>
          <p:cNvSpPr/>
          <p:nvPr/>
        </p:nvSpPr>
        <p:spPr>
          <a:xfrm>
            <a:off x="5074920" y="1691640"/>
            <a:ext cx="6446520" cy="4251960"/>
          </a:xfrm>
          <a:prstGeom prst="rect">
            <a:avLst/>
          </a:prstGeom>
          <a:solidFill>
            <a:srgbClr val="1E1A18"/>
          </a:solidFill>
          <a:ln>
            <a:noFill/>
          </a:ln>
        </p:spPr>
      </p:sp>
      <p:pic>
        <p:nvPicPr>
          <p:cNvPr id="8" name="evidenc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1828800"/>
            <a:ext cx="6126480" cy="3703320"/>
          </a:xfrm>
          <a:prstGeom prst="rect">
            <a:avLst/>
          </a:prstGeom>
          <a:ln>
            <a:solidFill>
              <a:srgbClr val="59443A"/>
            </a:solidFill>
          </a:ln>
        </p:spPr>
      </p:pic>
      <p:sp>
        <p:nvSpPr>
          <p:cNvPr id="9" name="evidence caption"/>
          <p:cNvSpPr txBox="1"/>
          <p:nvPr/>
        </p:nvSpPr>
        <p:spPr>
          <a:xfrm>
            <a:off x="5230368" y="5577840"/>
            <a:ext cx="6172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750" b="0">
                <a:solidFill>
                  <a:srgbClr val="B9AAA0"/>
                </a:solidFill>
                <a:latin typeface="Arial"/>
                <a:ea typeface="Microsoft YaHei"/>
              </a:rPr>
              <a:t xml:space="preserve">来源：Phase 9 corrected confirmation；失败样本保留。</a:t>
            </a:r>
            <a:endParaRPr lang="zh-CN" sz="750"/>
          </a:p>
        </p:txBody>
      </p:sp>
      <p:sp>
        <p:nvSpPr>
          <p:cNvPr id="10" name="footer rule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57443B"/>
          </a:solidFill>
          <a:ln>
            <a:noFill/>
          </a:ln>
        </p:spPr>
      </p:sp>
      <p:sp>
        <p:nvSpPr>
          <p:cNvPr id="11" name="footer disclaimer"/>
          <p:cNvSpPr txBox="1"/>
          <p:nvPr/>
        </p:nvSpPr>
        <p:spPr>
          <a:xfrm>
            <a:off x="658368" y="6547104"/>
            <a:ext cx="8412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720" b="0">
                <a:solidFill>
                  <a:srgbClr val="B9AAA0"/>
                </a:solidFill>
                <a:latin typeface="Arial"/>
                <a:ea typeface="Microsoft YaHei"/>
              </a:rPr>
              <a:t xml:space="preserve">仿真研究数据；非真实无线测量</a:t>
            </a:r>
            <a:endParaRPr lang="zh-CN" sz="720"/>
          </a:p>
        </p:txBody>
      </p:sp>
      <p:sp>
        <p:nvSpPr>
          <p:cNvPr id="12" name="page number"/>
          <p:cNvSpPr txBox="1"/>
          <p:nvPr/>
        </p:nvSpPr>
        <p:spPr>
          <a:xfrm>
            <a:off x="10607040" y="653796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 marL="0" indent="0"/>
            <a:r>
              <a:rPr lang="zh-CN" sz="800" b="1">
                <a:solidFill>
                  <a:srgbClr val="E96841"/>
                </a:solidFill>
                <a:latin typeface="Arial"/>
                <a:ea typeface="Microsoft YaHei"/>
              </a:rPr>
              <a:t xml:space="preserve">09 / 16</a:t>
            </a:r>
            <a:endParaRPr lang="zh-CN" sz="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rm accent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96841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40080" y="347472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900" b="1">
                <a:solidFill>
                  <a:srgbClr val="E96841"/>
                </a:solidFill>
                <a:latin typeface="Arial"/>
                <a:ea typeface="Microsoft YaHei"/>
              </a:rPr>
              <a:t xml:space="preserve">6G / RESCUE   ·   场景设计研究</a:t>
            </a:r>
            <a:endParaRPr lang="zh-CN" sz="900"/>
          </a:p>
        </p:txBody>
      </p:sp>
      <p:sp>
        <p:nvSpPr>
          <p:cNvPr id="4" name="slide title"/>
          <p:cNvSpPr txBox="1"/>
          <p:nvPr/>
        </p:nvSpPr>
        <p:spPr>
          <a:xfrm>
            <a:off x="621792" y="658368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3700" b="1">
                <a:solidFill>
                  <a:srgbClr val="F5F0E9"/>
                </a:solidFill>
                <a:latin typeface="Arial"/>
                <a:ea typeface="Microsoft YaHei"/>
              </a:rPr>
              <a:t xml:space="preserve">链路预算改变可行性</a:t>
            </a:r>
            <a:endParaRPr lang="zh-CN" sz="3700"/>
          </a:p>
        </p:txBody>
      </p:sp>
      <p:sp>
        <p:nvSpPr>
          <p:cNvPr id="5" name="subtitle"/>
          <p:cNvSpPr txBox="1"/>
          <p:nvPr/>
        </p:nvSpPr>
        <p:spPr>
          <a:xfrm>
            <a:off x="640080" y="1371600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600" b="0">
                <a:solidFill>
                  <a:srgbClr val="B9AAA0"/>
                </a:solidFill>
                <a:latin typeface="Arial"/>
                <a:ea typeface="Microsoft YaHei"/>
              </a:rPr>
              <a:t xml:space="preserve">几何可达不能替代无线链路预算</a:t>
            </a:r>
            <a:endParaRPr lang="zh-CN" sz="1600"/>
          </a:p>
        </p:txBody>
      </p:sp>
      <p:sp>
        <p:nvSpPr>
          <p:cNvPr id="6" name="key findings"/>
          <p:cNvSpPr txBox="1"/>
          <p:nvPr/>
        </p:nvSpPr>
        <p:spPr>
          <a:xfrm>
            <a:off x="658368" y="1874520"/>
            <a:ext cx="4251960" cy="32461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550" b="0">
                <a:solidFill>
                  <a:srgbClr val="F5F0E9"/>
                </a:solidFill>
                <a:latin typeface="Arial"/>
                <a:ea typeface="Microsoft YaHei"/>
              </a:rPr>
              <a:t xml:space="preserve">动态故障 B′ 服务率：距离阈值 19.70% → 链路预算 7.50%。</a:t>
            </a:r>
            <a:endParaRPr lang="zh-CN" sz="1550"/>
          </a:p>
          <a:p>
            <a:pPr algn="l" marL="0" indent="0"/>
            <a:r>
              <a:rPr lang="zh-CN" sz="1550" b="0">
                <a:solidFill>
                  <a:srgbClr val="F5F0E9"/>
                </a:solidFill>
                <a:latin typeface="Arial"/>
                <a:ea typeface="Microsoft YaHei"/>
              </a:rPr>
              <a:t xml:space="preserve">被更保守模型拒绝的链路会改变策略与恢复结论。</a:t>
            </a:r>
            <a:endParaRPr lang="zh-CN" sz="1550"/>
          </a:p>
          <a:p>
            <a:pPr algn="l" marL="0" indent="0"/>
            <a:r>
              <a:rPr lang="zh-CN" sz="1550" b="0">
                <a:solidFill>
                  <a:srgbClr val="F5F0E9"/>
                </a:solidFill>
                <a:latin typeface="Arial"/>
                <a:ea typeface="Microsoft YaHei"/>
              </a:rPr>
              <a:t xml:space="preserve">真实建筑遮挡、干扰与协议栈仍未模拟。</a:t>
            </a:r>
            <a:endParaRPr lang="zh-CN" sz="1550"/>
          </a:p>
        </p:txBody>
      </p:sp>
      <p:sp>
        <p:nvSpPr>
          <p:cNvPr id="7" name="image panel"/>
          <p:cNvSpPr/>
          <p:nvPr/>
        </p:nvSpPr>
        <p:spPr>
          <a:xfrm>
            <a:off x="5074920" y="1691640"/>
            <a:ext cx="6446520" cy="4251960"/>
          </a:xfrm>
          <a:prstGeom prst="rect">
            <a:avLst/>
          </a:prstGeom>
          <a:solidFill>
            <a:srgbClr val="1E1A18"/>
          </a:solidFill>
          <a:ln>
            <a:noFill/>
          </a:ln>
        </p:spPr>
      </p:sp>
      <p:pic>
        <p:nvPicPr>
          <p:cNvPr id="8" name="evidenc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1828800"/>
            <a:ext cx="6126480" cy="3703320"/>
          </a:xfrm>
          <a:prstGeom prst="rect">
            <a:avLst/>
          </a:prstGeom>
          <a:ln>
            <a:solidFill>
              <a:srgbClr val="59443A"/>
            </a:solidFill>
          </a:ln>
        </p:spPr>
      </p:pic>
      <p:sp>
        <p:nvSpPr>
          <p:cNvPr id="9" name="evidence caption"/>
          <p:cNvSpPr txBox="1"/>
          <p:nvPr/>
        </p:nvSpPr>
        <p:spPr>
          <a:xfrm>
            <a:off x="5230368" y="5577840"/>
            <a:ext cx="6172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750" b="0">
                <a:solidFill>
                  <a:srgbClr val="B9AAA0"/>
                </a:solidFill>
                <a:latin typeface="Arial"/>
                <a:ea typeface="Microsoft YaHei"/>
              </a:rPr>
              <a:t xml:space="preserve">来源：Phase 14 confirmation，80 seeds / 480 runs。</a:t>
            </a:r>
            <a:endParaRPr lang="zh-CN" sz="750"/>
          </a:p>
        </p:txBody>
      </p:sp>
      <p:sp>
        <p:nvSpPr>
          <p:cNvPr id="10" name="footer rule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57443B"/>
          </a:solidFill>
          <a:ln>
            <a:noFill/>
          </a:ln>
        </p:spPr>
      </p:sp>
      <p:sp>
        <p:nvSpPr>
          <p:cNvPr id="11" name="footer disclaimer"/>
          <p:cNvSpPr txBox="1"/>
          <p:nvPr/>
        </p:nvSpPr>
        <p:spPr>
          <a:xfrm>
            <a:off x="658368" y="6547104"/>
            <a:ext cx="8412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720" b="0">
                <a:solidFill>
                  <a:srgbClr val="B9AAA0"/>
                </a:solidFill>
                <a:latin typeface="Arial"/>
                <a:ea typeface="Microsoft YaHei"/>
              </a:rPr>
              <a:t xml:space="preserve">仿真研究数据；非真实无线测量</a:t>
            </a:r>
            <a:endParaRPr lang="zh-CN" sz="720"/>
          </a:p>
        </p:txBody>
      </p:sp>
      <p:sp>
        <p:nvSpPr>
          <p:cNvPr id="12" name="page number"/>
          <p:cNvSpPr txBox="1"/>
          <p:nvPr/>
        </p:nvSpPr>
        <p:spPr>
          <a:xfrm>
            <a:off x="10607040" y="653796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 marL="0" indent="0"/>
            <a:r>
              <a:rPr lang="zh-CN" sz="800" b="1">
                <a:solidFill>
                  <a:srgbClr val="E96841"/>
                </a:solidFill>
                <a:latin typeface="Arial"/>
                <a:ea typeface="Microsoft YaHei"/>
              </a:rPr>
              <a:t xml:space="preserve">10 / 16</a:t>
            </a:r>
            <a:endParaRPr lang="zh-CN" sz="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rm accent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96841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40080" y="347472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900" b="1">
                <a:solidFill>
                  <a:srgbClr val="E96841"/>
                </a:solidFill>
                <a:latin typeface="Arial"/>
                <a:ea typeface="Microsoft YaHei"/>
              </a:rPr>
              <a:t xml:space="preserve">6G / RESCUE   ·   场景设计研究</a:t>
            </a:r>
            <a:endParaRPr lang="zh-CN" sz="900"/>
          </a:p>
        </p:txBody>
      </p:sp>
      <p:sp>
        <p:nvSpPr>
          <p:cNvPr id="4" name="slide title"/>
          <p:cNvSpPr txBox="1"/>
          <p:nvPr/>
        </p:nvSpPr>
        <p:spPr>
          <a:xfrm>
            <a:off x="621792" y="658368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3700" b="1">
                <a:solidFill>
                  <a:srgbClr val="F5F0E9"/>
                </a:solidFill>
                <a:latin typeface="Arial"/>
                <a:ea typeface="Microsoft YaHei"/>
              </a:rPr>
              <a:t xml:space="preserve">公开数据：留出误差，不是设备校准</a:t>
            </a:r>
            <a:endParaRPr lang="zh-CN" sz="3700"/>
          </a:p>
        </p:txBody>
      </p:sp>
      <p:sp>
        <p:nvSpPr>
          <p:cNvPr id="5" name="subtitle"/>
          <p:cNvSpPr txBox="1"/>
          <p:nvPr/>
        </p:nvSpPr>
        <p:spPr>
          <a:xfrm>
            <a:off x="640080" y="1371600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600" b="0">
                <a:solidFill>
                  <a:srgbClr val="B9AAA0"/>
                </a:solidFill>
                <a:latin typeface="Arial"/>
                <a:ea typeface="Microsoft YaHei"/>
              </a:rPr>
              <a:t xml:space="preserve">Phase 15 · 3.6 GHz A2G 公共数据</a:t>
            </a:r>
            <a:endParaRPr lang="zh-CN" sz="1600"/>
          </a:p>
        </p:txBody>
      </p:sp>
      <p:sp>
        <p:nvSpPr>
          <p:cNvPr id="6" name="key findings"/>
          <p:cNvSpPr txBox="1"/>
          <p:nvPr/>
        </p:nvSpPr>
        <p:spPr>
          <a:xfrm>
            <a:off x="658368" y="1874520"/>
            <a:ext cx="4251960" cy="32461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550" b="0">
                <a:solidFill>
                  <a:srgbClr val="F5F0E9"/>
                </a:solidFill>
                <a:latin typeface="Arial"/>
                <a:ea typeface="Microsoft YaHei"/>
              </a:rPr>
              <a:t xml:space="preserve">拟合 800 条；over-water 环境留出 570 条。</a:t>
            </a:r>
            <a:endParaRPr lang="zh-CN" sz="1550"/>
          </a:p>
          <a:p>
            <a:pPr algn="l" marL="0" indent="0"/>
            <a:r>
              <a:rPr lang="zh-CN" sz="1550" b="0">
                <a:solidFill>
                  <a:srgbClr val="F5F0E9"/>
                </a:solidFill>
                <a:latin typeface="Arial"/>
                <a:ea typeface="Microsoft YaHei"/>
              </a:rPr>
              <a:t xml:space="preserve">候选 MAE 1.8195 dB；Phase 14 基线 MAE 7.1864 dB。</a:t>
            </a:r>
            <a:endParaRPr lang="zh-CN" sz="1550"/>
          </a:p>
          <a:p>
            <a:pPr algn="l" marL="0" indent="0"/>
            <a:r>
              <a:rPr lang="zh-CN" sz="1550" b="0">
                <a:solidFill>
                  <a:srgbClr val="F5F0E9"/>
                </a:solidFill>
                <a:latin typeface="Arial"/>
                <a:ea typeface="Microsoft YaHei"/>
              </a:rPr>
              <a:t xml:space="preserve">数据环境与目标设备不同，目标设备测量仍为 0。</a:t>
            </a:r>
            <a:endParaRPr lang="zh-CN" sz="1550"/>
          </a:p>
        </p:txBody>
      </p:sp>
      <p:sp>
        <p:nvSpPr>
          <p:cNvPr id="7" name="image panel"/>
          <p:cNvSpPr/>
          <p:nvPr/>
        </p:nvSpPr>
        <p:spPr>
          <a:xfrm>
            <a:off x="5074920" y="1691640"/>
            <a:ext cx="6446520" cy="4251960"/>
          </a:xfrm>
          <a:prstGeom prst="rect">
            <a:avLst/>
          </a:prstGeom>
          <a:solidFill>
            <a:srgbClr val="1E1A18"/>
          </a:solidFill>
          <a:ln>
            <a:noFill/>
          </a:ln>
        </p:spPr>
      </p:sp>
      <p:pic>
        <p:nvPicPr>
          <p:cNvPr id="8" name="evidenc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1828800"/>
            <a:ext cx="6126480" cy="3703320"/>
          </a:xfrm>
          <a:prstGeom prst="rect">
            <a:avLst/>
          </a:prstGeom>
          <a:ln>
            <a:solidFill>
              <a:srgbClr val="59443A"/>
            </a:solidFill>
          </a:ln>
        </p:spPr>
      </p:pic>
      <p:sp>
        <p:nvSpPr>
          <p:cNvPr id="9" name="evidence caption"/>
          <p:cNvSpPr txBox="1"/>
          <p:nvPr/>
        </p:nvSpPr>
        <p:spPr>
          <a:xfrm>
            <a:off x="5230368" y="5577840"/>
            <a:ext cx="6172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750" b="0">
                <a:solidFill>
                  <a:srgbClr val="B9AAA0"/>
                </a:solidFill>
                <a:latin typeface="Arial"/>
                <a:ea typeface="Microsoft YaHei"/>
              </a:rPr>
              <a:t xml:space="preserve">Mendeley Data v2，DOI 10.17632/8p6r8ft4fz.2，CC BY 4.0。</a:t>
            </a:r>
            <a:endParaRPr lang="zh-CN" sz="750"/>
          </a:p>
        </p:txBody>
      </p:sp>
      <p:sp>
        <p:nvSpPr>
          <p:cNvPr id="10" name="footer rule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57443B"/>
          </a:solidFill>
          <a:ln>
            <a:noFill/>
          </a:ln>
        </p:spPr>
      </p:sp>
      <p:sp>
        <p:nvSpPr>
          <p:cNvPr id="11" name="footer disclaimer"/>
          <p:cNvSpPr txBox="1"/>
          <p:nvPr/>
        </p:nvSpPr>
        <p:spPr>
          <a:xfrm>
            <a:off x="658368" y="6547104"/>
            <a:ext cx="8412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720" b="0">
                <a:solidFill>
                  <a:srgbClr val="B9AAA0"/>
                </a:solidFill>
                <a:latin typeface="Arial"/>
                <a:ea typeface="Microsoft YaHei"/>
              </a:rPr>
              <a:t xml:space="preserve">仿真研究数据；非真实无线测量</a:t>
            </a:r>
            <a:endParaRPr lang="zh-CN" sz="720"/>
          </a:p>
        </p:txBody>
      </p:sp>
      <p:sp>
        <p:nvSpPr>
          <p:cNvPr id="12" name="page number"/>
          <p:cNvSpPr txBox="1"/>
          <p:nvPr/>
        </p:nvSpPr>
        <p:spPr>
          <a:xfrm>
            <a:off x="10607040" y="653796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 marL="0" indent="0"/>
            <a:r>
              <a:rPr lang="zh-CN" sz="800" b="1">
                <a:solidFill>
                  <a:srgbClr val="E96841"/>
                </a:solidFill>
                <a:latin typeface="Arial"/>
                <a:ea typeface="Microsoft YaHei"/>
              </a:rPr>
              <a:t xml:space="preserve">11 / 16</a:t>
            </a:r>
            <a:endParaRPr lang="zh-CN" sz="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rm accent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96841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40080" y="347472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900" b="1">
                <a:solidFill>
                  <a:srgbClr val="E96841"/>
                </a:solidFill>
                <a:latin typeface="Arial"/>
                <a:ea typeface="Microsoft YaHei"/>
              </a:rPr>
              <a:t xml:space="preserve">6G / RESCUE   ·   场景设计研究</a:t>
            </a:r>
            <a:endParaRPr lang="zh-CN" sz="900"/>
          </a:p>
        </p:txBody>
      </p:sp>
      <p:sp>
        <p:nvSpPr>
          <p:cNvPr id="4" name="slide title"/>
          <p:cNvSpPr txBox="1"/>
          <p:nvPr/>
        </p:nvSpPr>
        <p:spPr>
          <a:xfrm>
            <a:off x="621792" y="658368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3700" b="1">
                <a:solidFill>
                  <a:srgbClr val="F5F0E9"/>
                </a:solidFill>
                <a:latin typeface="Arial"/>
                <a:ea typeface="Microsoft YaHei"/>
              </a:rPr>
              <a:t xml:space="preserve">真实交互：保存帧驱动的数字孪生</a:t>
            </a:r>
            <a:endParaRPr lang="zh-CN" sz="3700"/>
          </a:p>
        </p:txBody>
      </p:sp>
      <p:sp>
        <p:nvSpPr>
          <p:cNvPr id="5" name="subtitle"/>
          <p:cNvSpPr txBox="1"/>
          <p:nvPr/>
        </p:nvSpPr>
        <p:spPr>
          <a:xfrm>
            <a:off x="640080" y="1371600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600" b="0">
                <a:solidFill>
                  <a:srgbClr val="B9AAA0"/>
                </a:solidFill>
                <a:latin typeface="Arial"/>
                <a:ea typeface="Microsoft YaHei"/>
              </a:rPr>
              <a:t xml:space="preserve">六个页面路由 · 四类灾害回放</a:t>
            </a:r>
            <a:endParaRPr lang="zh-CN" sz="1600"/>
          </a:p>
        </p:txBody>
      </p:sp>
      <p:sp>
        <p:nvSpPr>
          <p:cNvPr id="6" name="key findings"/>
          <p:cNvSpPr txBox="1"/>
          <p:nvPr/>
        </p:nvSpPr>
        <p:spPr>
          <a:xfrm>
            <a:off x="658368" y="1874520"/>
            <a:ext cx="4251960" cy="32461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550" b="0">
                <a:solidFill>
                  <a:srgbClr val="F5F0E9"/>
                </a:solidFill>
                <a:latin typeface="Arial"/>
                <a:ea typeface="Microsoft YaHei"/>
              </a:rPr>
              <a:t xml:space="preserve">节点、用户、无人机、链路和事件来自实际仿真 JSON。</a:t>
            </a:r>
            <a:endParaRPr lang="zh-CN" sz="1550"/>
          </a:p>
          <a:p>
            <a:pPr algn="l" marL="0" indent="0"/>
            <a:r>
              <a:rPr lang="zh-CN" sz="1550" b="0">
                <a:solidFill>
                  <a:srgbClr val="F5F0E9"/>
                </a:solidFill>
                <a:latin typeface="Arial"/>
                <a:ea typeface="Microsoft YaHei"/>
              </a:rPr>
              <a:t xml:space="preserve">支持场景/策略切换、暂停、继续、拖动时间轴与事件跳转。</a:t>
            </a:r>
            <a:endParaRPr lang="zh-CN" sz="1550"/>
          </a:p>
          <a:p>
            <a:pPr algn="l" marL="0" indent="0"/>
            <a:r>
              <a:rPr lang="zh-CN" sz="1550" b="0">
                <a:solidFill>
                  <a:srgbClr val="F5F0E9"/>
                </a:solidFill>
                <a:latin typeface="Arial"/>
                <a:ea typeface="Microsoft YaHei"/>
              </a:rPr>
              <a:t xml:space="preserve">当前是离线仿真回放，不是实时物理网络同步。</a:t>
            </a:r>
            <a:endParaRPr lang="zh-CN" sz="1550"/>
          </a:p>
        </p:txBody>
      </p:sp>
      <p:sp>
        <p:nvSpPr>
          <p:cNvPr id="7" name="image panel"/>
          <p:cNvSpPr/>
          <p:nvPr/>
        </p:nvSpPr>
        <p:spPr>
          <a:xfrm>
            <a:off x="5074920" y="1691640"/>
            <a:ext cx="6446520" cy="4251960"/>
          </a:xfrm>
          <a:prstGeom prst="rect">
            <a:avLst/>
          </a:prstGeom>
          <a:solidFill>
            <a:srgbClr val="1E1A18"/>
          </a:solidFill>
          <a:ln>
            <a:noFill/>
          </a:ln>
        </p:spPr>
      </p:sp>
      <p:pic>
        <p:nvPicPr>
          <p:cNvPr id="8" name="evidenc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1828800"/>
            <a:ext cx="6126480" cy="3703320"/>
          </a:xfrm>
          <a:prstGeom prst="rect">
            <a:avLst/>
          </a:prstGeom>
          <a:ln>
            <a:solidFill>
              <a:srgbClr val="59443A"/>
            </a:solidFill>
          </a:ln>
        </p:spPr>
      </p:pic>
      <p:sp>
        <p:nvSpPr>
          <p:cNvPr id="9" name="evidence caption"/>
          <p:cNvSpPr txBox="1"/>
          <p:nvPr/>
        </p:nvSpPr>
        <p:spPr>
          <a:xfrm>
            <a:off x="5230368" y="5577840"/>
            <a:ext cx="6172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750" b="0">
                <a:solidFill>
                  <a:srgbClr val="B9AAA0"/>
                </a:solidFill>
                <a:latin typeface="Arial"/>
                <a:ea typeface="Microsoft YaHei"/>
              </a:rPr>
              <a:t xml:space="preserve">浏览器截图：/demo；不含真实无线遥测。</a:t>
            </a:r>
            <a:endParaRPr lang="zh-CN" sz="750"/>
          </a:p>
        </p:txBody>
      </p:sp>
      <p:sp>
        <p:nvSpPr>
          <p:cNvPr id="10" name="footer rule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57443B"/>
          </a:solidFill>
          <a:ln>
            <a:noFill/>
          </a:ln>
        </p:spPr>
      </p:sp>
      <p:sp>
        <p:nvSpPr>
          <p:cNvPr id="11" name="footer disclaimer"/>
          <p:cNvSpPr txBox="1"/>
          <p:nvPr/>
        </p:nvSpPr>
        <p:spPr>
          <a:xfrm>
            <a:off x="658368" y="6547104"/>
            <a:ext cx="8412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720" b="0">
                <a:solidFill>
                  <a:srgbClr val="B9AAA0"/>
                </a:solidFill>
                <a:latin typeface="Arial"/>
                <a:ea typeface="Microsoft YaHei"/>
              </a:rPr>
              <a:t xml:space="preserve">仿真研究数据；非真实无线测量</a:t>
            </a:r>
            <a:endParaRPr lang="zh-CN" sz="720"/>
          </a:p>
        </p:txBody>
      </p:sp>
      <p:sp>
        <p:nvSpPr>
          <p:cNvPr id="12" name="page number"/>
          <p:cNvSpPr txBox="1"/>
          <p:nvPr/>
        </p:nvSpPr>
        <p:spPr>
          <a:xfrm>
            <a:off x="10607040" y="653796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 marL="0" indent="0"/>
            <a:r>
              <a:rPr lang="zh-CN" sz="800" b="1">
                <a:solidFill>
                  <a:srgbClr val="E96841"/>
                </a:solidFill>
                <a:latin typeface="Arial"/>
                <a:ea typeface="Microsoft YaHei"/>
              </a:rPr>
              <a:t xml:space="preserve">12 / 16</a:t>
            </a:r>
            <a:endParaRPr lang="zh-CN" sz="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rm accent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96841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40080" y="347472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900" b="1">
                <a:solidFill>
                  <a:srgbClr val="E96841"/>
                </a:solidFill>
                <a:latin typeface="Arial"/>
                <a:ea typeface="Microsoft YaHei"/>
              </a:rPr>
              <a:t xml:space="preserve">6G / RESCUE   ·   场景设计研究</a:t>
            </a:r>
            <a:endParaRPr lang="zh-CN" sz="900"/>
          </a:p>
        </p:txBody>
      </p:sp>
      <p:sp>
        <p:nvSpPr>
          <p:cNvPr id="4" name="slide title"/>
          <p:cNvSpPr txBox="1"/>
          <p:nvPr/>
        </p:nvSpPr>
        <p:spPr>
          <a:xfrm>
            <a:off x="621792" y="658368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3700" b="1">
                <a:solidFill>
                  <a:srgbClr val="F5F0E9"/>
                </a:solidFill>
                <a:latin typeface="Arial"/>
                <a:ea typeface="Microsoft YaHei"/>
              </a:rPr>
              <a:t xml:space="preserve">可复现与质量门</a:t>
            </a:r>
            <a:endParaRPr lang="zh-CN" sz="3700"/>
          </a:p>
        </p:txBody>
      </p:sp>
      <p:sp>
        <p:nvSpPr>
          <p:cNvPr id="5" name="subtitle"/>
          <p:cNvSpPr txBox="1"/>
          <p:nvPr/>
        </p:nvSpPr>
        <p:spPr>
          <a:xfrm>
            <a:off x="640080" y="1371600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600" b="0">
                <a:solidFill>
                  <a:srgbClr val="B9AAA0"/>
                </a:solidFill>
                <a:latin typeface="Arial"/>
                <a:ea typeface="Microsoft YaHei"/>
              </a:rPr>
              <a:t xml:space="preserve">从原始记录到页面数值</a:t>
            </a:r>
            <a:endParaRPr lang="zh-CN" sz="1600"/>
          </a:p>
        </p:txBody>
      </p:sp>
      <p:sp>
        <p:nvSpPr>
          <p:cNvPr id="6" name="quality card"/>
          <p:cNvSpPr/>
          <p:nvPr/>
        </p:nvSpPr>
        <p:spPr>
          <a:xfrm>
            <a:off x="777240" y="1965960"/>
            <a:ext cx="4892040" cy="969264"/>
          </a:xfrm>
          <a:prstGeom prst="rect">
            <a:avLst/>
          </a:prstGeom>
          <a:solidFill>
            <a:srgbClr val="1E1A18"/>
          </a:solidFill>
          <a:ln>
            <a:noFill/>
          </a:ln>
        </p:spPr>
      </p:sp>
      <p:sp>
        <p:nvSpPr>
          <p:cNvPr id="7" name="quality number"/>
          <p:cNvSpPr txBox="1"/>
          <p:nvPr/>
        </p:nvSpPr>
        <p:spPr>
          <a:xfrm>
            <a:off x="978408" y="2084832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2500" b="1">
                <a:solidFill>
                  <a:srgbClr val="E96841"/>
                </a:solidFill>
                <a:latin typeface="Arial"/>
                <a:ea typeface="Microsoft YaHei"/>
              </a:rPr>
              <a:t xml:space="preserve">193</a:t>
            </a:r>
            <a:endParaRPr lang="zh-CN" sz="2500"/>
          </a:p>
        </p:txBody>
      </p:sp>
      <p:sp>
        <p:nvSpPr>
          <p:cNvPr id="8" name="quality label"/>
          <p:cNvSpPr txBox="1"/>
          <p:nvPr/>
        </p:nvSpPr>
        <p:spPr>
          <a:xfrm>
            <a:off x="2743200" y="214884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300" b="0">
                <a:solidFill>
                  <a:srgbClr val="F5F0E9"/>
                </a:solidFill>
                <a:latin typeface="Arial"/>
                <a:ea typeface="Microsoft YaHei"/>
              </a:rPr>
              <a:t xml:space="preserve">Python tests</a:t>
            </a:r>
            <a:endParaRPr lang="zh-CN" sz="1300"/>
          </a:p>
        </p:txBody>
      </p:sp>
      <p:sp>
        <p:nvSpPr>
          <p:cNvPr id="9" name="quality card"/>
          <p:cNvSpPr/>
          <p:nvPr/>
        </p:nvSpPr>
        <p:spPr>
          <a:xfrm>
            <a:off x="6172200" y="1965960"/>
            <a:ext cx="4892040" cy="969264"/>
          </a:xfrm>
          <a:prstGeom prst="rect">
            <a:avLst/>
          </a:prstGeom>
          <a:solidFill>
            <a:srgbClr val="1E1A18"/>
          </a:solidFill>
          <a:ln>
            <a:noFill/>
          </a:ln>
        </p:spPr>
      </p:sp>
      <p:sp>
        <p:nvSpPr>
          <p:cNvPr id="10" name="quality number"/>
          <p:cNvSpPr txBox="1"/>
          <p:nvPr/>
        </p:nvSpPr>
        <p:spPr>
          <a:xfrm>
            <a:off x="6373368" y="2084832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2500" b="1">
                <a:solidFill>
                  <a:srgbClr val="E96841"/>
                </a:solidFill>
                <a:latin typeface="Arial"/>
                <a:ea typeface="Microsoft YaHei"/>
              </a:rPr>
              <a:t xml:space="preserve">17</a:t>
            </a:r>
            <a:endParaRPr lang="zh-CN" sz="2500"/>
          </a:p>
        </p:txBody>
      </p:sp>
      <p:sp>
        <p:nvSpPr>
          <p:cNvPr id="11" name="quality label"/>
          <p:cNvSpPr txBox="1"/>
          <p:nvPr/>
        </p:nvSpPr>
        <p:spPr>
          <a:xfrm>
            <a:off x="8138160" y="214884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300" b="0">
                <a:solidFill>
                  <a:srgbClr val="F5F0E9"/>
                </a:solidFill>
                <a:latin typeface="Arial"/>
                <a:ea typeface="Microsoft YaHei"/>
              </a:rPr>
              <a:t xml:space="preserve">Vitest</a:t>
            </a:r>
            <a:endParaRPr lang="zh-CN" sz="1300"/>
          </a:p>
        </p:txBody>
      </p:sp>
      <p:sp>
        <p:nvSpPr>
          <p:cNvPr id="12" name="quality card"/>
          <p:cNvSpPr/>
          <p:nvPr/>
        </p:nvSpPr>
        <p:spPr>
          <a:xfrm>
            <a:off x="777240" y="3291840"/>
            <a:ext cx="4892040" cy="969264"/>
          </a:xfrm>
          <a:prstGeom prst="rect">
            <a:avLst/>
          </a:prstGeom>
          <a:solidFill>
            <a:srgbClr val="1E1A18"/>
          </a:solidFill>
          <a:ln>
            <a:noFill/>
          </a:ln>
        </p:spPr>
      </p:sp>
      <p:sp>
        <p:nvSpPr>
          <p:cNvPr id="13" name="quality number"/>
          <p:cNvSpPr txBox="1"/>
          <p:nvPr/>
        </p:nvSpPr>
        <p:spPr>
          <a:xfrm>
            <a:off x="978408" y="3410712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2500" b="1">
                <a:solidFill>
                  <a:srgbClr val="E96841"/>
                </a:solidFill>
                <a:latin typeface="Arial"/>
                <a:ea typeface="Microsoft YaHei"/>
              </a:rPr>
              <a:t xml:space="preserve">30</a:t>
            </a:r>
            <a:endParaRPr lang="zh-CN" sz="2500"/>
          </a:p>
        </p:txBody>
      </p:sp>
      <p:sp>
        <p:nvSpPr>
          <p:cNvPr id="14" name="quality label"/>
          <p:cNvSpPr txBox="1"/>
          <p:nvPr/>
        </p:nvSpPr>
        <p:spPr>
          <a:xfrm>
            <a:off x="2743200" y="347472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300" b="0">
                <a:solidFill>
                  <a:srgbClr val="F5F0E9"/>
                </a:solidFill>
                <a:latin typeface="Arial"/>
                <a:ea typeface="Microsoft YaHei"/>
              </a:rPr>
              <a:t xml:space="preserve">Playwright</a:t>
            </a:r>
            <a:endParaRPr lang="zh-CN" sz="1300"/>
          </a:p>
        </p:txBody>
      </p:sp>
      <p:sp>
        <p:nvSpPr>
          <p:cNvPr id="15" name="quality card"/>
          <p:cNvSpPr/>
          <p:nvPr/>
        </p:nvSpPr>
        <p:spPr>
          <a:xfrm>
            <a:off x="6172200" y="3291840"/>
            <a:ext cx="4892040" cy="969264"/>
          </a:xfrm>
          <a:prstGeom prst="rect">
            <a:avLst/>
          </a:prstGeom>
          <a:solidFill>
            <a:srgbClr val="1E1A18"/>
          </a:solidFill>
          <a:ln>
            <a:noFill/>
          </a:ln>
        </p:spPr>
      </p:sp>
      <p:sp>
        <p:nvSpPr>
          <p:cNvPr id="16" name="quality number"/>
          <p:cNvSpPr txBox="1"/>
          <p:nvPr/>
        </p:nvSpPr>
        <p:spPr>
          <a:xfrm>
            <a:off x="6373368" y="3410712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2500" b="1">
                <a:solidFill>
                  <a:srgbClr val="E96841"/>
                </a:solidFill>
                <a:latin typeface="Arial"/>
                <a:ea typeface="Microsoft YaHei"/>
              </a:rPr>
              <a:t xml:space="preserve">18 / 18</a:t>
            </a:r>
            <a:endParaRPr lang="zh-CN" sz="2500"/>
          </a:p>
        </p:txBody>
      </p:sp>
      <p:sp>
        <p:nvSpPr>
          <p:cNvPr id="17" name="quality label"/>
          <p:cNvSpPr txBox="1"/>
          <p:nvPr/>
        </p:nvSpPr>
        <p:spPr>
          <a:xfrm>
            <a:off x="8138160" y="347472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300" b="0">
                <a:solidFill>
                  <a:srgbClr val="F5F0E9"/>
                </a:solidFill>
                <a:latin typeface="Arial"/>
                <a:ea typeface="Microsoft YaHei"/>
              </a:rPr>
              <a:t xml:space="preserve">viewports 200</a:t>
            </a:r>
            <a:endParaRPr lang="zh-CN" sz="1300"/>
          </a:p>
        </p:txBody>
      </p:sp>
      <p:sp>
        <p:nvSpPr>
          <p:cNvPr id="18" name="footer rule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57443B"/>
          </a:solidFill>
          <a:ln>
            <a:noFill/>
          </a:ln>
        </p:spPr>
      </p:sp>
      <p:sp>
        <p:nvSpPr>
          <p:cNvPr id="19" name="footer disclaimer"/>
          <p:cNvSpPr txBox="1"/>
          <p:nvPr/>
        </p:nvSpPr>
        <p:spPr>
          <a:xfrm>
            <a:off x="658368" y="6547104"/>
            <a:ext cx="8412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720" b="0">
                <a:solidFill>
                  <a:srgbClr val="B9AAA0"/>
                </a:solidFill>
                <a:latin typeface="Arial"/>
                <a:ea typeface="Microsoft YaHei"/>
              </a:rPr>
              <a:t xml:space="preserve">仿真研究数据；非真实无线测量</a:t>
            </a:r>
            <a:endParaRPr lang="zh-CN" sz="720"/>
          </a:p>
        </p:txBody>
      </p:sp>
      <p:sp>
        <p:nvSpPr>
          <p:cNvPr id="20" name="page number"/>
          <p:cNvSpPr txBox="1"/>
          <p:nvPr/>
        </p:nvSpPr>
        <p:spPr>
          <a:xfrm>
            <a:off x="10607040" y="653796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 marL="0" indent="0"/>
            <a:r>
              <a:rPr lang="zh-CN" sz="800" b="1">
                <a:solidFill>
                  <a:srgbClr val="E96841"/>
                </a:solidFill>
                <a:latin typeface="Arial"/>
                <a:ea typeface="Microsoft YaHei"/>
              </a:rPr>
              <a:t xml:space="preserve">13 / 16</a:t>
            </a:r>
            <a:endParaRPr lang="zh-CN" sz="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rm accent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96841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40080" y="347472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900" b="1">
                <a:solidFill>
                  <a:srgbClr val="E96841"/>
                </a:solidFill>
                <a:latin typeface="Arial"/>
                <a:ea typeface="Microsoft YaHei"/>
              </a:rPr>
              <a:t xml:space="preserve">6G / RESCUE   ·   场景设计研究</a:t>
            </a:r>
            <a:endParaRPr lang="zh-CN" sz="900"/>
          </a:p>
        </p:txBody>
      </p:sp>
      <p:sp>
        <p:nvSpPr>
          <p:cNvPr id="4" name="slide title"/>
          <p:cNvSpPr txBox="1"/>
          <p:nvPr/>
        </p:nvSpPr>
        <p:spPr>
          <a:xfrm>
            <a:off x="621792" y="658368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3700" b="1">
                <a:solidFill>
                  <a:srgbClr val="F5F0E9"/>
                </a:solidFill>
                <a:latin typeface="Arial"/>
                <a:ea typeface="Microsoft YaHei"/>
              </a:rPr>
              <a:t xml:space="preserve">安全闭环：只验证软件</a:t>
            </a:r>
            <a:endParaRPr lang="zh-CN" sz="3700"/>
          </a:p>
        </p:txBody>
      </p:sp>
      <p:sp>
        <p:nvSpPr>
          <p:cNvPr id="5" name="subtitle"/>
          <p:cNvSpPr txBox="1"/>
          <p:nvPr/>
        </p:nvSpPr>
        <p:spPr>
          <a:xfrm>
            <a:off x="640080" y="1371600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600" b="0">
                <a:solidFill>
                  <a:srgbClr val="B9AAA0"/>
                </a:solidFill>
                <a:latin typeface="Arial"/>
                <a:ea typeface="Microsoft YaHei"/>
              </a:rPr>
              <a:t xml:space="preserve">Phase 17 · 软件故障注入 21/21</a:t>
            </a:r>
            <a:endParaRPr lang="zh-CN" sz="1600"/>
          </a:p>
        </p:txBody>
      </p:sp>
      <p:sp>
        <p:nvSpPr>
          <p:cNvPr id="6" name="bullet 1"/>
          <p:cNvSpPr txBox="1"/>
          <p:nvPr/>
        </p:nvSpPr>
        <p:spPr>
          <a:xfrm>
            <a:off x="804672" y="1920240"/>
            <a:ext cx="103327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650" b="0">
                <a:solidFill>
                  <a:srgbClr val="F5F0E9"/>
                </a:solidFill>
                <a:latin typeface="Arial"/>
                <a:ea typeface="Microsoft YaHei"/>
              </a:rPr>
              <a:t xml:space="preserve">•  固定合成种子复现实验输出；回放映射 61 帧，无插值。</a:t>
            </a:r>
            <a:endParaRPr lang="zh-CN" sz="1650"/>
          </a:p>
        </p:txBody>
      </p:sp>
      <p:sp>
        <p:nvSpPr>
          <p:cNvPr id="7" name="bullet 2"/>
          <p:cNvSpPr txBox="1"/>
          <p:nvPr/>
        </p:nvSpPr>
        <p:spPr>
          <a:xfrm>
            <a:off x="804672" y="2761488"/>
            <a:ext cx="103327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650" b="0">
                <a:solidFill>
                  <a:srgbClr val="F5F0E9"/>
                </a:solidFill>
                <a:latin typeface="Arial"/>
                <a:ea typeface="Microsoft YaHei"/>
              </a:rPr>
              <a:t xml:space="preserve">•  hardware_output_enabled=false；经核验物理设备 0。</a:t>
            </a:r>
            <a:endParaRPr lang="zh-CN" sz="1650"/>
          </a:p>
        </p:txBody>
      </p:sp>
      <p:sp>
        <p:nvSpPr>
          <p:cNvPr id="8" name="bullet 3"/>
          <p:cNvSpPr txBox="1"/>
          <p:nvPr/>
        </p:nvSpPr>
        <p:spPr>
          <a:xfrm>
            <a:off x="804672" y="3602736"/>
            <a:ext cx="103327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650" b="0">
                <a:solidFill>
                  <a:srgbClr val="F5F0E9"/>
                </a:solidFill>
                <a:latin typeface="Arial"/>
                <a:ea typeface="Microsoft YaHei"/>
              </a:rPr>
              <a:t xml:space="preserve">•  软件测试不是物理 HIL，也未执行真实飞行/发射。</a:t>
            </a:r>
            <a:endParaRPr lang="zh-CN" sz="1650"/>
          </a:p>
        </p:txBody>
      </p:sp>
      <p:sp>
        <p:nvSpPr>
          <p:cNvPr id="9" name="footer rule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57443B"/>
          </a:solidFill>
          <a:ln>
            <a:noFill/>
          </a:ln>
        </p:spPr>
      </p:sp>
      <p:sp>
        <p:nvSpPr>
          <p:cNvPr id="10" name="footer disclaimer"/>
          <p:cNvSpPr txBox="1"/>
          <p:nvPr/>
        </p:nvSpPr>
        <p:spPr>
          <a:xfrm>
            <a:off x="658368" y="6547104"/>
            <a:ext cx="8412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720" b="0">
                <a:solidFill>
                  <a:srgbClr val="B9AAA0"/>
                </a:solidFill>
                <a:latin typeface="Arial"/>
                <a:ea typeface="Microsoft YaHei"/>
              </a:rPr>
              <a:t xml:space="preserve">仿真研究数据；非真实无线测量</a:t>
            </a:r>
            <a:endParaRPr lang="zh-CN" sz="720"/>
          </a:p>
        </p:txBody>
      </p:sp>
      <p:sp>
        <p:nvSpPr>
          <p:cNvPr id="11" name="page number"/>
          <p:cNvSpPr txBox="1"/>
          <p:nvPr/>
        </p:nvSpPr>
        <p:spPr>
          <a:xfrm>
            <a:off x="10607040" y="653796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 marL="0" indent="0"/>
            <a:r>
              <a:rPr lang="zh-CN" sz="800" b="1">
                <a:solidFill>
                  <a:srgbClr val="E96841"/>
                </a:solidFill>
                <a:latin typeface="Arial"/>
                <a:ea typeface="Microsoft YaHei"/>
              </a:rPr>
              <a:t xml:space="preserve">14 / 16</a:t>
            </a:r>
            <a:endParaRPr lang="zh-CN" sz="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rm accent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96841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40080" y="347472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900" b="1">
                <a:solidFill>
                  <a:srgbClr val="E96841"/>
                </a:solidFill>
                <a:latin typeface="Arial"/>
                <a:ea typeface="Microsoft YaHei"/>
              </a:rPr>
              <a:t xml:space="preserve">6G / RESCUE   ·   场景设计研究</a:t>
            </a:r>
            <a:endParaRPr lang="zh-CN" sz="900"/>
          </a:p>
        </p:txBody>
      </p:sp>
      <p:sp>
        <p:nvSpPr>
          <p:cNvPr id="4" name="slide title"/>
          <p:cNvSpPr txBox="1"/>
          <p:nvPr/>
        </p:nvSpPr>
        <p:spPr>
          <a:xfrm>
            <a:off x="621792" y="658368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3700" b="1">
                <a:solidFill>
                  <a:srgbClr val="F5F0E9"/>
                </a:solidFill>
                <a:latin typeface="Arial"/>
                <a:ea typeface="Microsoft YaHei"/>
              </a:rPr>
              <a:t xml:space="preserve">明确边界，规划下一步</a:t>
            </a:r>
            <a:endParaRPr lang="zh-CN" sz="3700"/>
          </a:p>
        </p:txBody>
      </p:sp>
      <p:sp>
        <p:nvSpPr>
          <p:cNvPr id="5" name="subtitle"/>
          <p:cNvSpPr txBox="1"/>
          <p:nvPr/>
        </p:nvSpPr>
        <p:spPr>
          <a:xfrm>
            <a:off x="640080" y="1371600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600" b="0">
                <a:solidFill>
                  <a:srgbClr val="B9AAA0"/>
                </a:solidFill>
                <a:latin typeface="Arial"/>
                <a:ea typeface="Microsoft YaHei"/>
              </a:rPr>
              <a:t xml:space="preserve">从抽象模型走向工程验证</a:t>
            </a:r>
            <a:endParaRPr lang="zh-CN" sz="1600"/>
          </a:p>
        </p:txBody>
      </p:sp>
      <p:sp>
        <p:nvSpPr>
          <p:cNvPr id="6" name="bullet 1"/>
          <p:cNvSpPr txBox="1"/>
          <p:nvPr/>
        </p:nvSpPr>
        <p:spPr>
          <a:xfrm>
            <a:off x="804672" y="1920240"/>
            <a:ext cx="103327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650" b="0">
                <a:solidFill>
                  <a:srgbClr val="F5F0E9"/>
                </a:solidFill>
                <a:latin typeface="Arial"/>
                <a:ea typeface="Microsoft YaHei"/>
              </a:rPr>
              <a:t xml:space="preserve">•  未完成：目标设备校准、城市遮挡/干扰、真实 HIL、现场测量。</a:t>
            </a:r>
            <a:endParaRPr lang="zh-CN" sz="1650"/>
          </a:p>
        </p:txBody>
      </p:sp>
      <p:sp>
        <p:nvSpPr>
          <p:cNvPr id="7" name="bullet 2"/>
          <p:cNvSpPr txBox="1"/>
          <p:nvPr/>
        </p:nvSpPr>
        <p:spPr>
          <a:xfrm>
            <a:off x="804672" y="2761488"/>
            <a:ext cx="103327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650" b="0">
                <a:solidFill>
                  <a:srgbClr val="F5F0E9"/>
                </a:solidFill>
                <a:latin typeface="Arial"/>
                <a:ea typeface="Microsoft YaHei"/>
              </a:rPr>
              <a:t xml:space="preserve">•  Phase 7 历史证据缺失；依赖公告与许可证待人工处置。</a:t>
            </a:r>
            <a:endParaRPr lang="zh-CN" sz="1650"/>
          </a:p>
        </p:txBody>
      </p:sp>
      <p:sp>
        <p:nvSpPr>
          <p:cNvPr id="8" name="bullet 3"/>
          <p:cNvSpPr txBox="1"/>
          <p:nvPr/>
        </p:nvSpPr>
        <p:spPr>
          <a:xfrm>
            <a:off x="804672" y="3602736"/>
            <a:ext cx="103327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650" b="0">
                <a:solidFill>
                  <a:srgbClr val="F5F0E9"/>
                </a:solidFill>
                <a:latin typeface="Arial"/>
                <a:ea typeface="Microsoft YaHei"/>
              </a:rPr>
              <a:t xml:space="preserve">•  先经授权开展受控测量，再校准链路/能耗并盲测验证。</a:t>
            </a:r>
            <a:endParaRPr lang="zh-CN" sz="1650"/>
          </a:p>
        </p:txBody>
      </p:sp>
      <p:sp>
        <p:nvSpPr>
          <p:cNvPr id="9" name="footer rule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57443B"/>
          </a:solidFill>
          <a:ln>
            <a:noFill/>
          </a:ln>
        </p:spPr>
      </p:sp>
      <p:sp>
        <p:nvSpPr>
          <p:cNvPr id="10" name="footer disclaimer"/>
          <p:cNvSpPr txBox="1"/>
          <p:nvPr/>
        </p:nvSpPr>
        <p:spPr>
          <a:xfrm>
            <a:off x="658368" y="6547104"/>
            <a:ext cx="8412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720" b="0">
                <a:solidFill>
                  <a:srgbClr val="B9AAA0"/>
                </a:solidFill>
                <a:latin typeface="Arial"/>
                <a:ea typeface="Microsoft YaHei"/>
              </a:rPr>
              <a:t xml:space="preserve">仿真研究数据；非真实无线测量</a:t>
            </a:r>
            <a:endParaRPr lang="zh-CN" sz="720"/>
          </a:p>
        </p:txBody>
      </p:sp>
      <p:sp>
        <p:nvSpPr>
          <p:cNvPr id="11" name="page number"/>
          <p:cNvSpPr txBox="1"/>
          <p:nvPr/>
        </p:nvSpPr>
        <p:spPr>
          <a:xfrm>
            <a:off x="10607040" y="653796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 marL="0" indent="0"/>
            <a:r>
              <a:rPr lang="zh-CN" sz="800" b="1">
                <a:solidFill>
                  <a:srgbClr val="E96841"/>
                </a:solidFill>
                <a:latin typeface="Arial"/>
                <a:ea typeface="Microsoft YaHei"/>
              </a:rPr>
              <a:t xml:space="preserve">15 / 16</a:t>
            </a:r>
            <a:endParaRPr lang="zh-CN" sz="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rm accent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96841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40080" y="347472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900" b="1">
                <a:solidFill>
                  <a:srgbClr val="E96841"/>
                </a:solidFill>
                <a:latin typeface="Arial"/>
                <a:ea typeface="Microsoft YaHei"/>
              </a:rPr>
              <a:t xml:space="preserve">6G / RESCUE   ·   场景设计研究</a:t>
            </a:r>
            <a:endParaRPr lang="zh-CN" sz="900"/>
          </a:p>
        </p:txBody>
      </p:sp>
      <p:sp>
        <p:nvSpPr>
          <p:cNvPr id="4" name="slide title"/>
          <p:cNvSpPr txBox="1"/>
          <p:nvPr/>
        </p:nvSpPr>
        <p:spPr>
          <a:xfrm>
            <a:off x="621792" y="1417320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6000" b="1">
                <a:solidFill>
                  <a:srgbClr val="F5F0E9"/>
                </a:solidFill>
                <a:latin typeface="Arial"/>
                <a:ea typeface="Microsoft YaHei"/>
              </a:rPr>
              <a:t xml:space="preserve">把“能不能恢复”变成可复核的问题</a:t>
            </a:r>
            <a:endParaRPr lang="zh-CN" sz="6000"/>
          </a:p>
        </p:txBody>
      </p:sp>
      <p:sp>
        <p:nvSpPr>
          <p:cNvPr id="5" name="subtitle"/>
          <p:cNvSpPr txBox="1"/>
          <p:nvPr/>
        </p:nvSpPr>
        <p:spPr>
          <a:xfrm>
            <a:off x="640080" y="2130552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600" b="0">
                <a:solidFill>
                  <a:srgbClr val="B9AAA0"/>
                </a:solidFill>
                <a:latin typeface="Arial"/>
                <a:ea typeface="Microsoft YaHei"/>
              </a:rPr>
              <a:t xml:space="preserve">6G / RESCUE</a:t>
            </a:r>
            <a:endParaRPr lang="zh-CN" sz="1600"/>
          </a:p>
        </p:txBody>
      </p:sp>
      <p:sp>
        <p:nvSpPr>
          <p:cNvPr id="6" name="bullet 1"/>
          <p:cNvSpPr txBox="1"/>
          <p:nvPr/>
        </p:nvSpPr>
        <p:spPr>
          <a:xfrm>
            <a:off x="804672" y="2788920"/>
            <a:ext cx="1033272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650" b="0">
                <a:solidFill>
                  <a:srgbClr val="F5F0E9"/>
                </a:solidFill>
                <a:latin typeface="Arial"/>
                <a:ea typeface="Microsoft YaHei"/>
              </a:rPr>
              <a:t xml:space="preserve">•  研究原型：真实仿真记录 + 公平对照 + 可解释限制</a:t>
            </a:r>
            <a:endParaRPr lang="zh-CN" sz="1650"/>
          </a:p>
        </p:txBody>
      </p:sp>
      <p:sp>
        <p:nvSpPr>
          <p:cNvPr id="7" name="bullet 2"/>
          <p:cNvSpPr txBox="1"/>
          <p:nvPr/>
        </p:nvSpPr>
        <p:spPr>
          <a:xfrm>
            <a:off x="804672" y="3355848"/>
            <a:ext cx="1033272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650" b="0">
                <a:solidFill>
                  <a:srgbClr val="F5F0E9"/>
                </a:solidFill>
                <a:latin typeface="Arial"/>
                <a:ea typeface="Microsoft YaHei"/>
              </a:rPr>
              <a:t xml:space="preserve">•  关联 IMT-2030 研究方向，不构成标准符合性认证</a:t>
            </a:r>
            <a:endParaRPr lang="zh-CN" sz="1650"/>
          </a:p>
        </p:txBody>
      </p:sp>
      <p:sp>
        <p:nvSpPr>
          <p:cNvPr id="8" name="bullet 3"/>
          <p:cNvSpPr txBox="1"/>
          <p:nvPr/>
        </p:nvSpPr>
        <p:spPr>
          <a:xfrm>
            <a:off x="804672" y="3922776"/>
            <a:ext cx="1033272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1650" b="0">
                <a:solidFill>
                  <a:srgbClr val="F5F0E9"/>
                </a:solidFill>
                <a:latin typeface="Arial"/>
                <a:ea typeface="Microsoft YaHei"/>
              </a:rPr>
              <a:t xml:space="preserve">•  谢谢</a:t>
            </a:r>
            <a:endParaRPr lang="zh-CN" sz="1650"/>
          </a:p>
        </p:txBody>
      </p:sp>
      <p:sp>
        <p:nvSpPr>
          <p:cNvPr id="9" name="footer rule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57443B"/>
          </a:solidFill>
          <a:ln>
            <a:noFill/>
          </a:ln>
        </p:spPr>
      </p:sp>
      <p:sp>
        <p:nvSpPr>
          <p:cNvPr id="10" name="footer disclaimer"/>
          <p:cNvSpPr txBox="1"/>
          <p:nvPr/>
        </p:nvSpPr>
        <p:spPr>
          <a:xfrm>
            <a:off x="658368" y="6547104"/>
            <a:ext cx="8412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 marL="0" indent="0"/>
            <a:r>
              <a:rPr lang="zh-CN" sz="720" b="0">
                <a:solidFill>
                  <a:srgbClr val="B9AAA0"/>
                </a:solidFill>
                <a:latin typeface="Arial"/>
                <a:ea typeface="Microsoft YaHei"/>
              </a:rPr>
              <a:t xml:space="preserve">仿真研究数据；非真实无线测量</a:t>
            </a:r>
            <a:endParaRPr lang="zh-CN" sz="720"/>
          </a:p>
        </p:txBody>
      </p:sp>
      <p:sp>
        <p:nvSpPr>
          <p:cNvPr id="11" name="page number"/>
          <p:cNvSpPr txBox="1"/>
          <p:nvPr/>
        </p:nvSpPr>
        <p:spPr>
          <a:xfrm>
            <a:off x="10607040" y="653796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 marL="0" indent="0"/>
            <a:r>
              <a:rPr lang="zh-CN" sz="800" b="1">
                <a:solidFill>
                  <a:srgbClr val="E96841"/>
                </a:solidFill>
                <a:latin typeface="Arial"/>
                <a:ea typeface="Microsoft YaHei"/>
              </a:rPr>
              <a:t xml:space="preserve">16 / 16</a:t>
            </a:r>
            <a:endParaRPr lang="zh-CN"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6G Rescue">
  <a:themeElements>
    <a:clrScheme name="6G Rescue">
      <a:dk1>
        <a:srgbClr val="11100F"/>
      </a:dk1>
      <a:lt1>
        <a:srgbClr val="F5F0E9"/>
      </a:lt1>
      <a:dk2>
        <a:srgbClr val="1E1A18"/>
      </a:dk2>
      <a:lt2>
        <a:srgbClr val="B9AAA0"/>
      </a:lt2>
      <a:accent1>
        <a:srgbClr val="E96841"/>
      </a:accent1>
      <a:accent2>
        <a:srgbClr val="D85D4F"/>
      </a:accent2>
      <a:accent3>
        <a:srgbClr val="87C7A8"/>
      </a:accent3>
      <a:accent4>
        <a:srgbClr val="E2B15F"/>
      </a:accent4>
      <a:accent5>
        <a:srgbClr val="59443A"/>
      </a:accent5>
      <a:accent6>
        <a:srgbClr val="FFFFFF"/>
      </a:accent6>
      <a:hlink>
        <a:srgbClr val="E96841"/>
      </a:hlink>
      <a:folHlink>
        <a:srgbClr val="B9AAA0"/>
      </a:folHlink>
    </a:clrScheme>
    <a:fontScheme name="6G Rescue">
      <a:majorFont>
        <a:latin typeface="Arial"/>
        <a:ea typeface="Microsoft YaHei"/>
      </a:majorFont>
      <a:minorFont>
        <a:latin typeface="Arial"/>
        <a:ea typeface="Microsoft YaHei"/>
      </a:minorFont>
    </a:fontScheme>
    <a:fmtScheme name="6G Rescue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